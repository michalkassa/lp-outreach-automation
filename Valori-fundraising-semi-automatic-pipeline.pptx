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7B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5486400" y="-914400"/>
            <a:ext cx="1645920" cy="9144000"/>
          </a:xfrm>
          <a:prstGeom prst="parallelogram">
            <a:avLst/>
          </a:prstGeom>
          <a:solidFill>
            <a:srgbClr val="F4A5AE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315200" y="-914400"/>
            <a:ext cx="1097280" cy="9144000"/>
          </a:xfrm>
          <a:prstGeom prst="parallelogram">
            <a:avLst/>
          </a:prstGeom>
          <a:solidFill>
            <a:srgbClr val="F4A5AE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8686800" y="-914400"/>
            <a:ext cx="2286000" cy="9144000"/>
          </a:xfrm>
          <a:prstGeom prst="parallelogram">
            <a:avLst/>
          </a:prstGeom>
          <a:solidFill>
            <a:srgbClr val="F4A5AE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515600" y="-914400"/>
            <a:ext cx="1371600" cy="9144000"/>
          </a:xfrm>
          <a:prstGeom prst="parallelogram">
            <a:avLst/>
          </a:prstGeom>
          <a:solidFill>
            <a:srgbClr val="F4A5AE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Georgia"/>
              </a:defRPr>
            </a:pPr>
            <a:r>
              <a:t>Semi-Automatic</a:t>
            </a:r>
            <a:br/>
            <a:r>
              <a:t>Fundraising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Georgia"/>
              </a:defRPr>
            </a:pPr>
            <a:r>
              <a:t>Valori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AI-assisted research, scoring, drafting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394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Human-controlled sending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5486400" y="-914400"/>
            <a:ext cx="1645920" cy="9144000"/>
          </a:xfrm>
          <a:prstGeom prst="parallelogram">
            <a:avLst/>
          </a:prstGeom>
          <a:solidFill>
            <a:srgbClr val="F0F0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315200" y="-914400"/>
            <a:ext cx="1097280" cy="9144000"/>
          </a:xfrm>
          <a:prstGeom prst="parallelogram">
            <a:avLst/>
          </a:prstGeom>
          <a:solidFill>
            <a:srgbClr val="F0F0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8686800" y="-914400"/>
            <a:ext cx="2286000" cy="9144000"/>
          </a:xfrm>
          <a:prstGeom prst="parallelogram">
            <a:avLst/>
          </a:prstGeom>
          <a:solidFill>
            <a:srgbClr val="F0F0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515600" y="-914400"/>
            <a:ext cx="1371600" cy="9144000"/>
          </a:xfrm>
          <a:prstGeom prst="parallelogram">
            <a:avLst/>
          </a:prstGeom>
          <a:solidFill>
            <a:srgbClr val="F0F0F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7B88"/>
                </a:solidFill>
                <a:latin typeface="Georgia"/>
              </a:defRPr>
            </a:pPr>
            <a:r>
              <a:t>Pipeline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THE COMPLETE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411480" cy="41148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Build LP Universe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input.xlsx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240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F7B88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645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54680" y="1645920"/>
            <a:ext cx="411480" cy="411480"/>
          </a:xfrm>
          <a:prstGeom prst="rect">
            <a:avLst/>
          </a:prstGeom>
          <a:solidFill>
            <a:srgbClr val="F4A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Import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06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/import-lps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240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F7B88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645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645920"/>
            <a:ext cx="411480" cy="41148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AI 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606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/research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240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F7B88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1645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1645920"/>
            <a:ext cx="411480" cy="411480"/>
          </a:xfrm>
          <a:prstGeom prst="rect">
            <a:avLst/>
          </a:prstGeom>
          <a:solidFill>
            <a:srgbClr val="F4A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Score &amp; Prioritise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606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1-100 rubric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411480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66760" y="4114800"/>
            <a:ext cx="411480" cy="41148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Draft Emails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074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/draft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52760" y="47091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F7B88"/>
                </a:solidFill>
                <a:latin typeface="Calibri"/>
              </a:defRPr>
            </a:pPr>
            <a:r>
              <a:t>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411480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60720" y="4114800"/>
            <a:ext cx="411480" cy="411480"/>
          </a:xfrm>
          <a:prstGeom prst="rect">
            <a:avLst/>
          </a:prstGeom>
          <a:solidFill>
            <a:srgbClr val="F4A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Human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5074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/review-packet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7091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F7B88"/>
                </a:solidFill>
                <a:latin typeface="Calibri"/>
              </a:defRPr>
            </a:pPr>
            <a:r>
              <a:t>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411480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54680" y="4114800"/>
            <a:ext cx="411480" cy="41148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Send &amp; 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5074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/log-sent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47091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F7B88"/>
                </a:solidFill>
                <a:latin typeface="Calibri"/>
              </a:defRPr>
            </a:pPr>
            <a:r>
              <a:t>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F4A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Calibri"/>
              </a:defRPr>
            </a:pPr>
            <a:r>
              <a:t>Calibrate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074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1089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B88"/>
                </a:solidFill>
                <a:latin typeface="Calibri"/>
              </a:defRPr>
            </a:pPr>
            <a:r>
              <a:t>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6126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↻  Cycle repeats — each round, drafts improve from learned edits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BUILD LP</a:t>
            </a:r>
            <a:br/>
            <a:r>
              <a:t>UNIVERSE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FILL INPUT.XLSX WITH PROSPECTS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371600"/>
            <a:ext cx="5943600" cy="411480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input.xlsx in Excel</a:t>
            </a:r>
            <a:br/>
            <a:r>
              <a:t>Columns: Company, Country, First Name, Last Name,</a:t>
            </a:r>
            <a:br/>
            <a:r>
              <a:t>Title, Email, LinkedIn, Considered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1371600"/>
            <a:ext cx="2560320" cy="4114800"/>
          </a:xfrm>
          <a:prstGeom prst="rect">
            <a:avLst/>
          </a:prstGeom>
          <a:solidFill>
            <a:srgbClr val="F7F7F7"/>
          </a:solidFill>
          <a:ln w="12700">
            <a:solidFill>
              <a:srgbClr val="FBE0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1554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B88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1920240"/>
            <a:ext cx="2194560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0" y="2103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onsolas"/>
              </a:defRPr>
            </a:pPr>
            <a:r>
              <a:t>SK / CZ  →  Slovak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onsolas"/>
              </a:defRPr>
            </a:pPr>
            <a:r>
              <a:t>AT / DE  →  German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onsolas"/>
              </a:defRPr>
            </a:pPr>
            <a:r>
              <a:t>Other     →  English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onsolas"/>
              </a:defRPr>
            </a:pP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onsolas"/>
              </a:defRPr>
            </a:pPr>
            <a:r>
              <a:t>Override per draft: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/draft &lt;LP&gt; 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1148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•  One row = one LP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•  Country drives language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333333"/>
                </a:solidFill>
                <a:latin typeface="Calibri"/>
              </a:defRPr>
            </a:pPr>
            <a:r>
              <a:t>•  Stage + Score auto-filled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IMPORT</a:t>
            </a:r>
            <a:br/>
            <a:r>
              <a:t>INTO</a:t>
            </a:r>
            <a:br/>
            <a: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TWO-STEP IMPORT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645920"/>
            <a:ext cx="365760" cy="3657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convert.py 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202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Reads input.xlsx, writes lp-import.csv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560320"/>
            <a:ext cx="365760" cy="3657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560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/import-lps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8346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Creates stub .md files + adds rows to output.csv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48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F7B8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474720"/>
            <a:ext cx="8686800" cy="292608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Claude terminal running /import-lps</a:t>
            </a:r>
            <a:br/>
            <a:r>
              <a:t>Show the summary table: company | slug | contact |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AI-POWERED</a:t>
            </a:r>
            <a:br/>
            <a:r>
              <a:t>RESEARCH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/RESEARCH &lt;LP&gt; — WEB SEARCH, SCORE, CONTACTS, BRIDGES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371600"/>
            <a:ext cx="5029200" cy="475488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Claude running /research</a:t>
            </a:r>
            <a:br/>
            <a:r>
              <a:t>Show web searches executing and</a:t>
            </a:r>
            <a:br/>
            <a:r>
              <a:t>research output being written to LP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6002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5544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Company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8288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AUM, type, regulator, ownership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25146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468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Investment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743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Alternatives allocation in their words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4290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3383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Named Contacts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576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2-3 people with titles and emails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43434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4297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Bridge Candidates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5720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3 ranked hooks for the email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52578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5212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Score 1-100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486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6-layer rubric with working shown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SCORING &amp;</a:t>
            </a:r>
            <a:br/>
            <a:r>
              <a:t>PRIORI-</a:t>
            </a:r>
            <a:br/>
            <a:r>
              <a:t>TISATION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6-LAYER SCORING RUBRIC, 1-100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371600"/>
            <a:ext cx="4114800" cy="5943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1508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75 –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08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Top Priority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508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Draft immediately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965960"/>
            <a:ext cx="4114800" cy="594360"/>
          </a:xfrm>
          <a:prstGeom prst="rect">
            <a:avLst/>
          </a:prstGeom>
          <a:solidFill>
            <a:srgbClr val="F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55 – 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103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Strong Prospect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03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Draft when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560320"/>
            <a:ext cx="4114800" cy="5943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697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35 – 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97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Verify gaps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154680"/>
            <a:ext cx="4114800" cy="594360"/>
          </a:xfrm>
          <a:prstGeom prst="rect">
            <a:avLst/>
          </a:prstGeom>
          <a:solidFill>
            <a:srgbClr val="F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20 – 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Keep on radar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749040"/>
            <a:ext cx="4114800" cy="5943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886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&lt; 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886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Skip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886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Regulatory barrier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71600"/>
            <a:ext cx="4389120" cy="475488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output.xlsx in Excel</a:t>
            </a:r>
            <a:br/>
            <a:r>
              <a:t>Color-coded rows by stage</a:t>
            </a:r>
            <a:br/>
            <a:r>
              <a:t>Columns: company, score, contact,</a:t>
            </a:r>
            <a:br/>
            <a:r>
              <a:t>stage, bridge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LP RESEARCH</a:t>
            </a:r>
            <a:br/>
            <a:r>
              <a:t>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ONE STRUCTURED FILE PER LP — SINGLE SOURCE OF TRUTH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371600"/>
            <a:ext cx="5029200" cy="475488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LP .md file in editor</a:t>
            </a:r>
            <a:br/>
            <a:r>
              <a:t>e.g. lps/bonus-pensionskasse-ag.md</a:t>
            </a:r>
            <a:br/>
            <a:br/>
            <a:r>
              <a:t>Show sections: Data, Investment Strategy,</a:t>
            </a:r>
            <a:br/>
            <a:r>
              <a:t>Contacts, Recent Activity,</a:t>
            </a:r>
            <a:br/>
            <a:r>
              <a:t>Bridge Candidates,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6002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24028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2194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Investment Strategy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88036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834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People &amp; Org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52044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Contacts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16052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114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Recent Activity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48006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754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Bridge Candidates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544068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5394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PERSONALISED</a:t>
            </a:r>
            <a:br/>
            <a:r>
              <a:t>OUTREACH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/DRAFT &lt;LP&gt; — GENERATES 3 VARIATIONS (A / B / C)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371600"/>
            <a:ext cx="5943600" cy="475488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draft .md file or REVIEW-PACKET.md</a:t>
            </a:r>
            <a:br/>
            <a:r>
              <a:t>Show one complete email: subject, salutation,</a:t>
            </a:r>
            <a:br/>
            <a:r>
              <a:t>intro with bridge, bullets, values close, sign-off</a:t>
            </a:r>
            <a:br/>
            <a:br/>
            <a:r>
              <a:t>Ideally two variants side by side (A and B)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160020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7260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 bridge angles per LP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0" y="233172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200-230 words, QA-checked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306324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 language: SK / DE / 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79476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3749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Override: /draft &lt;LP&gt; 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4526280"/>
            <a:ext cx="109728" cy="109728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4480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Fund facts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HUMAN</a:t>
            </a:r>
            <a:br/>
            <a:r>
              <a:t>REVIEW</a:t>
            </a:r>
            <a:br/>
            <a:r>
              <a:t>&amp; SEND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AI NEVER SENDS — SUPERVISOR REVIEWS, EDITS, SENDS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25603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0" y="1645920"/>
            <a:ext cx="2560320" cy="54864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onsolas"/>
              </a:defRPr>
            </a:pPr>
            <a:r>
              <a:t>/review-packet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Georgia"/>
              </a:defRPr>
            </a:pPr>
            <a:r>
              <a:t>Compile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All emails in one</a:t>
            </a:r>
            <a:br/>
            <a:r>
              <a:t>printable 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743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F7B88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45920"/>
            <a:ext cx="25603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645920"/>
            <a:ext cx="2560320" cy="54864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onsolas"/>
              </a:defRPr>
            </a:pPr>
            <a:r>
              <a:t>Supervisor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Georgia"/>
              </a:defRPr>
            </a:pPr>
            <a:r>
              <a:t>Review &amp; 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Read, edit bridge,</a:t>
            </a:r>
            <a:br/>
            <a:r>
              <a:t>pick best 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743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F7B88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645920"/>
            <a:ext cx="25603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1645920"/>
            <a:ext cx="2560320" cy="54864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onsolas"/>
              </a:defRPr>
            </a:pPr>
            <a:r>
              <a:t>Manual Send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Georgia"/>
              </a:defRPr>
            </a:pPr>
            <a:r>
              <a:t>Send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Deck attached</a:t>
            </a:r>
            <a:br/>
            <a:r>
              <a:t>Max 5/day, Tue-Thu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754880"/>
            <a:ext cx="8503920" cy="1645920"/>
          </a:xfrm>
          <a:prstGeom prst="rect">
            <a:avLst/>
          </a:prstGeom>
          <a:solidFill>
            <a:srgbClr val="F7F7F7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i="1">
                <a:solidFill>
                  <a:srgbClr val="999999"/>
                </a:solidFill>
                <a:latin typeface="Calibri"/>
              </a:defRPr>
            </a:pPr>
            <a:r>
              <a:t>✂ SCREENSHOT: REVIEW-PACKET.md — summary table at top, two emails visible with bridge and word 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LOG &amp;</a:t>
            </a:r>
            <a:br/>
            <a:r>
              <a:t>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914400"/>
            <a:ext cx="4114800" cy="5029200"/>
          </a:xfrm>
          <a:prstGeom prst="rect">
            <a:avLst/>
          </a:prstGeom>
          <a:solidFill>
            <a:srgbClr val="F7F7F7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914400"/>
            <a:ext cx="4114800" cy="54864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B88"/>
                </a:solidFill>
                <a:latin typeface="Consolas"/>
              </a:defRPr>
            </a:pPr>
            <a:r>
              <a:t>/log-sent &lt;LP&gt;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8288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  <a:r>
              <a:t>1.  Paste the email exactly as sent</a:t>
            </a: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   (or say "unchanged")</a:t>
            </a: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  <a:r>
              <a:t>2.  Saved to /sent/ with date</a:t>
            </a: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  <a:r>
              <a:t>3.  Marked: edits none / minor / major</a:t>
            </a: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39"/>
              </a:spcAft>
              <a:defRPr sz="1100" b="0">
                <a:solidFill>
                  <a:srgbClr val="333333"/>
                </a:solidFill>
                <a:latin typeface="Calibri"/>
              </a:defRPr>
            </a:pPr>
            <a:r>
              <a:t>4.  output.csv → stage = 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914400"/>
            <a:ext cx="4389120" cy="5029200"/>
          </a:xfrm>
          <a:prstGeom prst="rect">
            <a:avLst/>
          </a:prstGeom>
          <a:solidFill>
            <a:srgbClr val="F7F7F7"/>
          </a:solidFill>
          <a:ln w="127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914400"/>
            <a:ext cx="4389120" cy="54864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B88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B88"/>
                </a:solidFill>
                <a:latin typeface="Calibri"/>
              </a:defRPr>
            </a:pPr>
            <a:r>
              <a:t>DIFFS EVERY SENT VS. DRAFT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2377440"/>
            <a:ext cx="3840480" cy="54864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48716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Seen 1x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487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Hypothesis (watched)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3154680"/>
            <a:ext cx="3840480" cy="548640"/>
          </a:xfrm>
          <a:prstGeom prst="rect">
            <a:avLst/>
          </a:prstGeom>
          <a:solidFill>
            <a:srgbClr val="F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2644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Seen 2x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2644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Confirmed rule in learnings.md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3931920"/>
            <a:ext cx="3840480" cy="54864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0416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Seen 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0416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Proposes change to voice.md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8463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Next /draft applies all learned rules.</a:t>
            </a:r>
            <a:br/>
            <a:r>
              <a:t>Run after every 5-10 sends.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B88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B88"/>
                </a:solidFill>
                <a:latin typeface="Calibri"/>
              </a:defRPr>
            </a:pPr>
            <a:r>
              <a:t>THE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960120"/>
            <a:ext cx="1828800" cy="8229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Research</a:t>
            </a:r>
          </a:p>
          <a:p>
            <a:pPr algn="ctr">
              <a:defRPr sz="900">
                <a:solidFill>
                  <a:srgbClr val="FFFFFF"/>
                </a:solidFill>
                <a:latin typeface="Consolas"/>
              </a:defRPr>
            </a:pPr>
            <a:r>
              <a:t>/research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2345" y="2011680"/>
            <a:ext cx="1828800" cy="822960"/>
          </a:xfrm>
          <a:prstGeom prst="rect">
            <a:avLst/>
          </a:prstGeom>
          <a:solidFill>
            <a:srgbClr val="F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Score</a:t>
            </a:r>
          </a:p>
          <a:p>
            <a:pPr algn="ctr">
              <a:defRPr sz="900">
                <a:solidFill>
                  <a:srgbClr val="333333"/>
                </a:solidFill>
                <a:latin typeface="Consolas"/>
              </a:defRPr>
            </a:pPr>
            <a:r>
              <a:t>/rescore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2345" y="4114800"/>
            <a:ext cx="1828800" cy="8229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Draft</a:t>
            </a:r>
          </a:p>
          <a:p>
            <a:pPr algn="ctr">
              <a:defRPr sz="900">
                <a:solidFill>
                  <a:srgbClr val="FFFFFF"/>
                </a:solidFill>
                <a:latin typeface="Consolas"/>
              </a:defRPr>
            </a:pPr>
            <a:r>
              <a:t>/draft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990" y="5166360"/>
            <a:ext cx="1828800" cy="822960"/>
          </a:xfrm>
          <a:prstGeom prst="rect">
            <a:avLst/>
          </a:prstGeom>
          <a:solidFill>
            <a:srgbClr val="F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Review &amp; Send</a:t>
            </a:r>
          </a:p>
          <a:p>
            <a:pPr algn="ctr">
              <a:defRPr sz="900">
                <a:solidFill>
                  <a:srgbClr val="333333"/>
                </a:solidFill>
                <a:latin typeface="Consolas"/>
              </a:defRPr>
            </a:pPr>
            <a:r>
              <a:t>Supervisor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9634" y="4114800"/>
            <a:ext cx="1828800" cy="82296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Log</a:t>
            </a:r>
          </a:p>
          <a:p>
            <a:pPr algn="ctr">
              <a:defRPr sz="900">
                <a:solidFill>
                  <a:srgbClr val="FFFFFF"/>
                </a:solidFill>
                <a:latin typeface="Consolas"/>
              </a:defRPr>
            </a:pPr>
            <a:r>
              <a:t>/log-sent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9634" y="2011680"/>
            <a:ext cx="1828800" cy="822960"/>
          </a:xfrm>
          <a:prstGeom prst="rect">
            <a:avLst/>
          </a:prstGeom>
          <a:solidFill>
            <a:srgbClr val="F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Calibrate</a:t>
            </a:r>
          </a:p>
          <a:p>
            <a:pPr algn="ctr">
              <a:defRPr sz="900">
                <a:solidFill>
                  <a:srgbClr val="333333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110" y="30175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7B88"/>
                </a:solidFill>
                <a:latin typeface="Georgia"/>
              </a:defRPr>
            </a:pPr>
            <a:r>
              <a:t>Continuous</a:t>
            </a:r>
            <a:br/>
            <a:r>
              <a:t>Improvement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Each round, drafts get closer to your voice. After 5-10 sends, run /calibrate.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200" b="1">
                <a:solidFill>
                  <a:srgbClr val="FFFFFF"/>
                </a:solidFill>
                <a:latin typeface="Georgia"/>
              </a:defRPr>
            </a:pPr>
            <a:r>
              <a:t>QUICK</a:t>
            </a:r>
            <a:br/>
            <a:r>
              <a:t>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9905695" cy="25400"/>
          </a:xfrm>
          <a:prstGeom prst="rect">
            <a:avLst/>
          </a:prstGeom>
          <a:solidFill>
            <a:srgbClr val="EF7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B88"/>
                </a:solidFill>
                <a:latin typeface="Calibri"/>
              </a:defRPr>
            </a:pPr>
            <a:r>
              <a:t>CLAUDE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097280"/>
            <a:ext cx="457200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1887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/import-lps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188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Create stub files from import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00200"/>
            <a:ext cx="4572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6916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/research &lt;LP&gt;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Full web research + 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03120"/>
            <a:ext cx="457200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/rescore &lt;LP&gt;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94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Recalculate 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606040"/>
            <a:ext cx="4572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2697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/draft &lt;LP&gt;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697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3 email variations (A/B/C)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108960"/>
            <a:ext cx="457200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/review-packet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Compile all drafts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611880"/>
            <a:ext cx="4572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3703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/log-sent &lt;LP&gt;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703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Archive sent version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4114800"/>
            <a:ext cx="457200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206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Learn from edits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4617720"/>
            <a:ext cx="4572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47091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/weekly-review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Pipeline 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731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B88"/>
                </a:solidFill>
                <a:latin typeface="Calibri"/>
              </a:defRPr>
            </a:pPr>
            <a:r>
              <a:t>TERMINAL COMMANDS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1097280"/>
            <a:ext cx="393192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0" y="1188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convert.py init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1188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Blank input.xlsx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160020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convert.py import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1691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xlsx → csv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0" y="2103120"/>
            <a:ext cx="393192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2194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convert.py export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2194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csv → xlsx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260604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63840" y="2697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convert.py sync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697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Pull stage/score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0" y="3108960"/>
            <a:ext cx="3931920" cy="457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convert.py verify-export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Verification checklist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0" y="361188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3703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convert.py verify-import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Apply corrections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B88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