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7B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6"/>
    <p:restoredTop sz="94673"/>
  </p:normalViewPr>
  <p:slideViewPr>
    <p:cSldViewPr snapToGrid="0" snapToObjects="1">
      <p:cViewPr>
        <p:scale>
          <a:sx n="186" d="100"/>
          <a:sy n="186" d="100"/>
        </p:scale>
        <p:origin x="2136" y="6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2263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One sentence: AI does the legwork, a person sends.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Walk the loop once — the rest of the deck is one slide per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The only data entry in the whole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One command turns the sheet into the working pipeline.</a:t>
            </a:r>
          </a:p>
          <a:p>
            <a:r>
              <a:t>• Single investors can go straight to /research.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You type one line; the dossier appears as a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Scores rank the pipeline; the human picks from the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The management view: whole pipeline in one spreadsheet.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Personalisation is one true fact — that is what makes it 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Compare all pending emails side by side in one sitting.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The one non-negotiable rule, stated plainly.</a:t>
            </a:r>
          </a:p>
          <a:p>
            <a:r>
              <a:t>• Pasting back what you sent feeds the learning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The longer you use it, the less you correct.</a:t>
            </a:r>
          </a:p>
          <a:p>
            <a:r>
              <a:t>• Style changes are proposed, never made silently.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Weekly rhythm: read the status, refill the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Plain words typed into a chat — no software to learn.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One picture: you top, AI middle, files below.</a:t>
            </a:r>
          </a:p>
          <a:p>
            <a:r>
              <a:t>• Point at the feedback arrow — it improves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Close on the principle.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7B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863840" y="-1463040"/>
            <a:ext cx="6766560" cy="6766560"/>
          </a:xfrm>
          <a:prstGeom prst="ellipse">
            <a:avLst/>
          </a:prstGeom>
          <a:noFill/>
          <a:ln w="25400">
            <a:solidFill>
              <a:srgbClr val="F4A5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778240" y="-548640"/>
            <a:ext cx="4937760" cy="4937760"/>
          </a:xfrm>
          <a:prstGeom prst="ellipse">
            <a:avLst/>
          </a:prstGeom>
          <a:noFill/>
          <a:ln w="15875">
            <a:solidFill>
              <a:srgbClr val="F4A5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Garamond"/>
              </a:defRPr>
            </a:pPr>
            <a:r>
              <a:rPr spc="300" dirty="0"/>
              <a:t>VALORI CAPITAL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600" b="1" i="0">
                <a:solidFill>
                  <a:srgbClr val="FFFFFF"/>
                </a:solidFill>
                <a:latin typeface="Garamond"/>
              </a:defRPr>
            </a:pPr>
            <a:r>
              <a:t>Semi-Automatic</a:t>
            </a:r>
          </a:p>
          <a:p>
            <a:pPr algn="l">
              <a:spcAft>
                <a:spcPts val="0"/>
              </a:spcAft>
              <a:defRPr sz="4600" b="1" i="0">
                <a:solidFill>
                  <a:srgbClr val="FFFFFF"/>
                </a:solidFill>
                <a:latin typeface="Garamond"/>
              </a:defRPr>
            </a:pPr>
            <a:r>
              <a:t>Fundraising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" y="4069080"/>
            <a:ext cx="1097280" cy="31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84048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EF7B88"/>
                </a:solidFill>
                <a:latin typeface="Garamond"/>
              </a:defRPr>
            </a:pPr>
            <a:r>
              <a:rPr spc="220" dirty="0"/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7899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 i="0">
                <a:solidFill>
                  <a:srgbClr val="2C2C2C"/>
                </a:solidFill>
                <a:latin typeface="Garamond"/>
              </a:defRPr>
            </a:pPr>
            <a:r>
              <a:rPr lang="en-US" dirty="0"/>
              <a:t>Pipeline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841248" y="1298448"/>
            <a:ext cx="822960" cy="31750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0" y="6519672"/>
            <a:ext cx="4206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 i="0">
                <a:solidFill>
                  <a:srgbClr val="8A8A8A"/>
                </a:solidFill>
                <a:latin typeface="Garamond"/>
              </a:defRPr>
            </a:pPr>
            <a:r>
              <a:rPr spc="180"/>
              <a:t>VALORI CAPITAL · LP OUTREACH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1920240"/>
            <a:ext cx="2834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88720" y="1920240"/>
            <a:ext cx="73152" cy="1143000"/>
          </a:xfrm>
          <a:prstGeom prst="rect">
            <a:avLst/>
          </a:prstGeom>
          <a:solidFill>
            <a:srgbClr val="2E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08176" y="2029968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 i="0">
                <a:solidFill>
                  <a:srgbClr val="2E3A50"/>
                </a:solidFill>
                <a:latin typeface="Garamond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1952" y="2157984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 i="0">
                <a:solidFill>
                  <a:srgbClr val="2C2C2C"/>
                </a:solidFill>
                <a:latin typeface="Garamond"/>
              </a:defRPr>
            </a:pPr>
            <a:r>
              <a:t>Add prospects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2560320"/>
            <a:ext cx="1965960" cy="238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 i="0">
                <a:solidFill>
                  <a:srgbClr val="8A8A8A"/>
                </a:solidFill>
                <a:latin typeface="Consolas"/>
              </a:defRPr>
            </a:pPr>
            <a:r>
              <a:rPr dirty="0"/>
              <a:t>spreadsheet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2481580"/>
            <a:ext cx="576072" cy="20320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Isosceles Triangle 11"/>
          <p:cNvSpPr/>
          <p:nvPr/>
        </p:nvSpPr>
        <p:spPr>
          <a:xfrm rot="5400000">
            <a:off x="4535424" y="2427732"/>
            <a:ext cx="128016" cy="128016"/>
          </a:xfrm>
          <a:prstGeom prst="triangle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63440" y="1920240"/>
            <a:ext cx="2834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663440" y="1920240"/>
            <a:ext cx="73152" cy="1143000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82896" y="2029968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 i="0">
                <a:solidFill>
                  <a:srgbClr val="EF7B88"/>
                </a:solidFill>
                <a:latin typeface="Garamond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6672" y="2157984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 i="0">
                <a:solidFill>
                  <a:srgbClr val="2C2C2C"/>
                </a:solidFill>
                <a:latin typeface="Garamond"/>
              </a:defRPr>
            </a:pPr>
            <a:r>
              <a:t>Research &amp;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76672" y="2560320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 i="0">
                <a:solidFill>
                  <a:srgbClr val="8A8A8A"/>
                </a:solidFill>
                <a:latin typeface="Consolas"/>
              </a:defRPr>
            </a:pPr>
            <a:r>
              <a:t>/research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0" y="2481580"/>
            <a:ext cx="576072" cy="20320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Isosceles Triangle 18"/>
          <p:cNvSpPr/>
          <p:nvPr/>
        </p:nvSpPr>
        <p:spPr>
          <a:xfrm rot="5400000">
            <a:off x="8010144" y="2427732"/>
            <a:ext cx="128016" cy="128016"/>
          </a:xfrm>
          <a:prstGeom prst="triangle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38160" y="1920240"/>
            <a:ext cx="2834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38160" y="1920240"/>
            <a:ext cx="73152" cy="1143000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57616" y="2029968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 i="0">
                <a:solidFill>
                  <a:srgbClr val="EF7B88"/>
                </a:solidFill>
                <a:latin typeface="Garamond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1392" y="2157984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 i="0">
                <a:solidFill>
                  <a:srgbClr val="2C2C2C"/>
                </a:solidFill>
                <a:latin typeface="Garamond"/>
              </a:defRPr>
            </a:pPr>
            <a:r>
              <a:t>Draft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1392" y="2560320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 i="0">
                <a:solidFill>
                  <a:srgbClr val="8A8A8A"/>
                </a:solidFill>
                <a:latin typeface="Consolas"/>
              </a:defRPr>
            </a:pPr>
            <a:r>
              <a:t>/draft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4343400"/>
            <a:ext cx="2834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55080" y="4343400"/>
            <a:ext cx="73152" cy="1143000"/>
          </a:xfrm>
          <a:prstGeom prst="rect">
            <a:avLst/>
          </a:prstGeom>
          <a:solidFill>
            <a:srgbClr val="2E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74536" y="4453128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 i="0">
                <a:solidFill>
                  <a:srgbClr val="2E3A50"/>
                </a:solidFill>
                <a:latin typeface="Garamond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68312" y="4581144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 i="0">
                <a:solidFill>
                  <a:srgbClr val="2C2C2C"/>
                </a:solidFill>
                <a:latin typeface="Garamond"/>
              </a:defRPr>
            </a:pPr>
            <a:r>
              <a:t>Review &amp; send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8312" y="4983480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 i="0">
                <a:solidFill>
                  <a:srgbClr val="8A8A8A"/>
                </a:solidFill>
                <a:latin typeface="Consolas"/>
              </a:defRPr>
            </a:pPr>
            <a:r>
              <a:t>your mailbox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80360" y="4343400"/>
            <a:ext cx="2834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880360" y="4343400"/>
            <a:ext cx="73152" cy="1143000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099816" y="4453128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 i="0">
                <a:solidFill>
                  <a:srgbClr val="EF7B88"/>
                </a:solidFill>
                <a:latin typeface="Garamond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93592" y="4581144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 i="0">
                <a:solidFill>
                  <a:srgbClr val="2C2C2C"/>
                </a:solidFill>
                <a:latin typeface="Garamond"/>
              </a:defRPr>
            </a:pPr>
            <a:r>
              <a:t>Learn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93592" y="4983480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 i="0">
                <a:solidFill>
                  <a:srgbClr val="8A8A8A"/>
                </a:solidFill>
                <a:latin typeface="Consolas"/>
              </a:defRPr>
            </a:pPr>
            <a:r>
              <a:t>/calibrate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79008" y="4904740"/>
            <a:ext cx="576072" cy="20320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Isosceles Triangle 35"/>
          <p:cNvSpPr/>
          <p:nvPr/>
        </p:nvSpPr>
        <p:spPr>
          <a:xfrm rot="16200000">
            <a:off x="5715000" y="4850892"/>
            <a:ext cx="128016" cy="128016"/>
          </a:xfrm>
          <a:prstGeom prst="triangle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545320" y="3063240"/>
            <a:ext cx="20320" cy="1787652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Isosceles Triangle 37"/>
          <p:cNvSpPr/>
          <p:nvPr/>
        </p:nvSpPr>
        <p:spPr>
          <a:xfrm rot="10800000">
            <a:off x="9491472" y="4786884"/>
            <a:ext cx="128016" cy="128016"/>
          </a:xfrm>
          <a:prstGeom prst="triangle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89720" y="4904740"/>
            <a:ext cx="365760" cy="20320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606040" y="4904740"/>
            <a:ext cx="274320" cy="20320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2595880" y="3127248"/>
            <a:ext cx="20320" cy="1787652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Isosceles Triangle 41"/>
          <p:cNvSpPr/>
          <p:nvPr/>
        </p:nvSpPr>
        <p:spPr>
          <a:xfrm>
            <a:off x="2542032" y="3063240"/>
            <a:ext cx="128016" cy="128016"/>
          </a:xfrm>
          <a:prstGeom prst="triangle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4189476" y="5969508"/>
            <a:ext cx="210312" cy="210312"/>
          </a:xfrm>
          <a:prstGeom prst="ellipse">
            <a:avLst/>
          </a:prstGeom>
          <a:solidFill>
            <a:srgbClr val="2E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5" name="TextBox 44"/>
          <p:cNvSpPr txBox="1"/>
          <p:nvPr/>
        </p:nvSpPr>
        <p:spPr>
          <a:xfrm>
            <a:off x="4425696" y="5939028"/>
            <a:ext cx="9144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 i="0">
                <a:solidFill>
                  <a:srgbClr val="8A8A8A"/>
                </a:solidFill>
                <a:latin typeface="Garamond"/>
              </a:defRPr>
            </a:pPr>
            <a:r>
              <a:rPr lang="en-US" sz="1200" dirty="0"/>
              <a:t>Manual</a:t>
            </a:r>
            <a:endParaRPr sz="1200" dirty="0"/>
          </a:p>
        </p:txBody>
      </p:sp>
      <p:sp>
        <p:nvSpPr>
          <p:cNvPr id="46" name="Diamond 45"/>
          <p:cNvSpPr/>
          <p:nvPr/>
        </p:nvSpPr>
        <p:spPr>
          <a:xfrm>
            <a:off x="5843016" y="5969000"/>
            <a:ext cx="210312" cy="210312"/>
          </a:xfrm>
          <a:prstGeom prst="diamond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47" name="TextBox 46"/>
          <p:cNvSpPr txBox="1"/>
          <p:nvPr/>
        </p:nvSpPr>
        <p:spPr>
          <a:xfrm>
            <a:off x="6071616" y="5939028"/>
            <a:ext cx="1767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 i="0">
                <a:solidFill>
                  <a:srgbClr val="8A8A8A"/>
                </a:solidFill>
                <a:latin typeface="Garamond"/>
              </a:defRPr>
            </a:pPr>
            <a:r>
              <a:rPr lang="en-US" sz="1200" dirty="0"/>
              <a:t>Automatic </a:t>
            </a:r>
            <a:r>
              <a:rPr sz="1200" dirty="0"/>
              <a:t>(</a:t>
            </a:r>
            <a:r>
              <a:rPr lang="en-US" sz="1200" dirty="0"/>
              <a:t>Claude</a:t>
            </a:r>
            <a:r>
              <a:rPr sz="1200" dirty="0"/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84048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EF7B88"/>
                </a:solidFill>
                <a:latin typeface="Garamond"/>
              </a:defRPr>
            </a:pPr>
            <a:r>
              <a:rPr spc="220"/>
              <a:t>STEP 1 · ONE SPREADSHEET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 i="0">
                <a:solidFill>
                  <a:srgbClr val="2C2C2C"/>
                </a:solidFill>
                <a:latin typeface="Garamond"/>
              </a:defRPr>
            </a:pPr>
            <a:r>
              <a:t>Add prospects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298448"/>
            <a:ext cx="822960" cy="31750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0" y="6519672"/>
            <a:ext cx="4206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 i="0">
                <a:solidFill>
                  <a:srgbClr val="8A8A8A"/>
                </a:solidFill>
                <a:latin typeface="Garamond"/>
              </a:defRPr>
            </a:pPr>
            <a:r>
              <a:rPr spc="180"/>
              <a:t>VALORI CAPITAL · LP OUTREACH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6309360" cy="4206240"/>
          </a:xfrm>
          <a:prstGeom prst="rect">
            <a:avLst/>
          </a:prstGeom>
          <a:solidFill>
            <a:srgbClr val="F8F8F8"/>
          </a:solidFill>
          <a:ln w="12700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EF7B88"/>
                </a:solidFill>
                <a:latin typeface="Garamond"/>
              </a:defRPr>
            </a:pPr>
            <a:r>
              <a:t>✂ SCREENSHOT 4-A</a:t>
            </a:r>
          </a:p>
          <a:p>
            <a:pPr algn="ctr">
              <a:defRPr sz="1000" i="1">
                <a:solidFill>
                  <a:srgbClr val="8A8A8A"/>
                </a:solidFill>
                <a:latin typeface="Garamond"/>
              </a:defRPr>
            </a:pPr>
            <a:r>
              <a:t>the prospect sheet in Excel</a:t>
            </a:r>
          </a:p>
          <a:p>
            <a:pPr algn="ctr">
              <a:defRPr sz="1000" i="1">
                <a:solidFill>
                  <a:srgbClr val="8A8A8A"/>
                </a:solidFill>
                <a:latin typeface="Garamond"/>
              </a:defRPr>
            </a:pPr>
            <a:r>
              <a:t>columns: company, country, contact</a:t>
            </a:r>
          </a:p>
          <a:p>
            <a:pPr algn="ctr">
              <a:defRPr sz="1000" i="1">
                <a:solidFill>
                  <a:srgbClr val="8A8A8A"/>
                </a:solidFill>
                <a:latin typeface="Garamond"/>
              </a:defRPr>
            </a:pPr>
            <a:r>
              <a:t>a few rows, anonymised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482840" y="256032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82840" y="2560320"/>
            <a:ext cx="3886200" cy="38100"/>
          </a:xfrm>
          <a:prstGeom prst="rect">
            <a:avLst/>
          </a:prstGeom>
          <a:solidFill>
            <a:srgbClr val="2E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57161" y="2834640"/>
            <a:ext cx="3383280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2C2C2C"/>
                </a:solidFill>
                <a:latin typeface="Garamond"/>
              </a:defRPr>
            </a:pPr>
            <a:r>
              <a:rPr dirty="0"/>
              <a:t>One row per </a:t>
            </a:r>
            <a:r>
              <a:rPr lang="en-US" dirty="0"/>
              <a:t>LP</a:t>
            </a: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7482840" y="370332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482840" y="3703320"/>
            <a:ext cx="3886200" cy="38100"/>
          </a:xfrm>
          <a:prstGeom prst="rect">
            <a:avLst/>
          </a:prstGeom>
          <a:solidFill>
            <a:srgbClr val="2E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57161" y="3977640"/>
            <a:ext cx="3383280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2C2C2C"/>
                </a:solidFill>
                <a:latin typeface="Garamond"/>
              </a:defRPr>
            </a:pPr>
            <a:r>
              <a:rPr dirty="0"/>
              <a:t>Name, country, contact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84048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EF7B88"/>
                </a:solidFill>
                <a:latin typeface="Garamond"/>
              </a:defRPr>
            </a:pPr>
            <a:r>
              <a:rPr spc="220"/>
              <a:t>STEP 1 · ONE COMMAND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 i="0">
                <a:solidFill>
                  <a:srgbClr val="2C2C2C"/>
                </a:solidFill>
                <a:latin typeface="Garamond"/>
              </a:defRPr>
            </a:pPr>
            <a:r>
              <a:t>Pull the prospects in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298448"/>
            <a:ext cx="822960" cy="31750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0" y="6519672"/>
            <a:ext cx="4206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 i="0">
                <a:solidFill>
                  <a:srgbClr val="8A8A8A"/>
                </a:solidFill>
                <a:latin typeface="Garamond"/>
              </a:defRPr>
            </a:pPr>
            <a:r>
              <a:rPr spc="180"/>
              <a:t>VALORI CAPITAL · LP OUTREACH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45920"/>
            <a:ext cx="4206240" cy="685800"/>
          </a:xfrm>
          <a:prstGeom prst="rect">
            <a:avLst/>
          </a:prstGeom>
          <a:solidFill>
            <a:srgbClr val="2C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500" b="0">
                <a:solidFill>
                  <a:srgbClr val="FFFFFF"/>
                </a:solidFill>
                <a:latin typeface="Consolas"/>
              </a:defRPr>
            </a:pPr>
            <a:r>
              <a:t>/import-lps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779776"/>
            <a:ext cx="274320" cy="274320"/>
          </a:xfrm>
          <a:prstGeom prst="ellipse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Garamond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61488"/>
            <a:ext cx="37490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2C2C2C"/>
                </a:solidFill>
                <a:latin typeface="Garamond"/>
              </a:defRPr>
            </a:pPr>
            <a:r>
              <a:t>Reads the sheet, creates one file per investor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493008"/>
            <a:ext cx="274320" cy="274320"/>
          </a:xfrm>
          <a:prstGeom prst="ellipse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Garamond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474720"/>
            <a:ext cx="3749039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2C2C2C"/>
                </a:solidFill>
                <a:latin typeface="Garamond"/>
              </a:defRPr>
            </a:pPr>
            <a:r>
              <a:rPr dirty="0"/>
              <a:t>Skips rows already imported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206240"/>
            <a:ext cx="274320" cy="274320"/>
          </a:xfrm>
          <a:prstGeom prst="ellipse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Garamond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87952"/>
            <a:ext cx="37490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2C2C2C"/>
                </a:solidFill>
                <a:latin typeface="Garamond"/>
              </a:defRPr>
            </a:pPr>
            <a:r>
              <a:rPr dirty="0"/>
              <a:t>No research yet — that is step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07492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" y="5074920"/>
            <a:ext cx="4206240" cy="38100"/>
          </a:xfrm>
          <a:prstGeom prst="rect">
            <a:avLst/>
          </a:prstGeom>
          <a:solidFill>
            <a:srgbClr val="2E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5230368"/>
            <a:ext cx="3703320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2C2C2C"/>
                </a:solidFill>
                <a:latin typeface="Garamond"/>
              </a:defRPr>
            </a:pPr>
            <a:r>
              <a:rPr lang="en-US" dirty="0"/>
              <a:t>Alternative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1097280" y="5596128"/>
            <a:ext cx="370332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 i="0">
                <a:solidFill>
                  <a:srgbClr val="8A8A8A"/>
                </a:solidFill>
                <a:latin typeface="Garamond"/>
              </a:defRPr>
            </a:pPr>
            <a:r>
              <a:rPr dirty="0"/>
              <a:t>Skip the sheet </a:t>
            </a:r>
            <a:r>
              <a:rPr lang="en-US" dirty="0"/>
              <a:t>and</a:t>
            </a:r>
            <a:r>
              <a:rPr dirty="0"/>
              <a:t> type /research &lt;</a:t>
            </a:r>
            <a:r>
              <a:rPr lang="en-US" dirty="0"/>
              <a:t> LP </a:t>
            </a:r>
            <a:r>
              <a:rPr dirty="0"/>
              <a:t>name&gt; </a:t>
            </a:r>
            <a:r>
              <a:rPr lang="en-US" dirty="0"/>
              <a:t>for only one LP</a:t>
            </a:r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5577840" y="1645920"/>
            <a:ext cx="5806440" cy="4480560"/>
          </a:xfrm>
          <a:prstGeom prst="rect">
            <a:avLst/>
          </a:prstGeom>
          <a:solidFill>
            <a:srgbClr val="F8F8F8"/>
          </a:solidFill>
          <a:ln w="12700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EF7B88"/>
                </a:solidFill>
                <a:latin typeface="Garamond"/>
              </a:defRPr>
            </a:pPr>
            <a:r>
              <a:t>✂ SCREENSHOT 5-A</a:t>
            </a:r>
          </a:p>
          <a:p>
            <a:pPr algn="ctr">
              <a:defRPr sz="1000" i="1">
                <a:solidFill>
                  <a:srgbClr val="8A8A8A"/>
                </a:solidFill>
                <a:latin typeface="Garamond"/>
              </a:defRPr>
            </a:pPr>
            <a:r>
              <a:t>Claude right after /import-lps</a:t>
            </a:r>
          </a:p>
          <a:p>
            <a:pPr algn="ctr">
              <a:defRPr sz="1000" i="1">
                <a:solidFill>
                  <a:srgbClr val="8A8A8A"/>
                </a:solidFill>
                <a:latin typeface="Garamond"/>
              </a:defRPr>
            </a:pPr>
            <a:r>
              <a:t>the summary list of imported investors</a:t>
            </a:r>
          </a:p>
          <a:p>
            <a:pPr algn="ctr">
              <a:defRPr sz="1000" i="1">
                <a:solidFill>
                  <a:srgbClr val="8A8A8A"/>
                </a:solidFill>
                <a:latin typeface="Garamond"/>
              </a:defRPr>
            </a:pPr>
            <a:r>
              <a:t>anonymise company names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84048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EF7B88"/>
                </a:solidFill>
                <a:latin typeface="Garamond"/>
              </a:defRPr>
            </a:pPr>
            <a:r>
              <a:rPr spc="220"/>
              <a:t>STEP 2 · ONE COMMAND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7899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 i="0">
                <a:solidFill>
                  <a:srgbClr val="2C2C2C"/>
                </a:solidFill>
                <a:latin typeface="Garamond"/>
              </a:defRPr>
            </a:pPr>
            <a:r>
              <a:rPr lang="en-US" dirty="0"/>
              <a:t>Research LPs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841248" y="1298448"/>
            <a:ext cx="822960" cy="31750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0" y="6519672"/>
            <a:ext cx="4206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 i="0">
                <a:solidFill>
                  <a:srgbClr val="8A8A8A"/>
                </a:solidFill>
                <a:latin typeface="Garamond"/>
              </a:defRPr>
            </a:pPr>
            <a:r>
              <a:rPr spc="180"/>
              <a:t>VALORI CAPITAL · LP OUTREACH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45920"/>
            <a:ext cx="4206240" cy="685800"/>
          </a:xfrm>
          <a:prstGeom prst="rect">
            <a:avLst/>
          </a:prstGeom>
          <a:solidFill>
            <a:srgbClr val="2C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500" b="0">
                <a:solidFill>
                  <a:srgbClr val="FFFFFF"/>
                </a:solidFill>
                <a:latin typeface="Consolas"/>
              </a:defRPr>
            </a:pPr>
            <a:r>
              <a:rPr dirty="0"/>
              <a:t>/research  &lt;</a:t>
            </a:r>
            <a:r>
              <a:rPr lang="en-US" dirty="0"/>
              <a:t>LP</a:t>
            </a:r>
            <a:r>
              <a:rPr dirty="0"/>
              <a:t> name&gt;</a:t>
            </a:r>
          </a:p>
        </p:txBody>
      </p:sp>
      <p:sp>
        <p:nvSpPr>
          <p:cNvPr id="7" name="Oval 6"/>
          <p:cNvSpPr/>
          <p:nvPr/>
        </p:nvSpPr>
        <p:spPr>
          <a:xfrm>
            <a:off x="926592" y="3447288"/>
            <a:ext cx="274320" cy="274320"/>
          </a:xfrm>
          <a:prstGeom prst="ellipse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Garamond"/>
              </a:defRPr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383792" y="3429000"/>
            <a:ext cx="37490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2C2C2C"/>
                </a:solidFill>
                <a:latin typeface="Garamond"/>
              </a:defRPr>
            </a:pPr>
            <a:r>
              <a:rPr dirty="0"/>
              <a:t>Who they are and what they invest in</a:t>
            </a:r>
          </a:p>
        </p:txBody>
      </p:sp>
      <p:sp>
        <p:nvSpPr>
          <p:cNvPr id="9" name="Oval 8"/>
          <p:cNvSpPr/>
          <p:nvPr/>
        </p:nvSpPr>
        <p:spPr>
          <a:xfrm>
            <a:off x="926592" y="4160520"/>
            <a:ext cx="274320" cy="274320"/>
          </a:xfrm>
          <a:prstGeom prst="ellipse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Garamond"/>
              </a:defRPr>
            </a:pP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383792" y="4142232"/>
            <a:ext cx="37490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2C2C2C"/>
                </a:solidFill>
                <a:latin typeface="Garamond"/>
              </a:defRPr>
            </a:pPr>
            <a:r>
              <a:t>The right person to write to</a:t>
            </a:r>
          </a:p>
        </p:txBody>
      </p:sp>
      <p:sp>
        <p:nvSpPr>
          <p:cNvPr id="11" name="Oval 10"/>
          <p:cNvSpPr/>
          <p:nvPr/>
        </p:nvSpPr>
        <p:spPr>
          <a:xfrm>
            <a:off x="926592" y="4873752"/>
            <a:ext cx="274320" cy="274320"/>
          </a:xfrm>
          <a:prstGeom prst="ellipse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Garamond"/>
              </a:defRPr>
            </a:pP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1383792" y="4855464"/>
            <a:ext cx="37490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2C2C2C"/>
                </a:solidFill>
                <a:latin typeface="Garamond"/>
              </a:defRPr>
            </a:pPr>
            <a:r>
              <a:t>3 personal angles for the email</a:t>
            </a:r>
          </a:p>
        </p:txBody>
      </p:sp>
      <p:sp>
        <p:nvSpPr>
          <p:cNvPr id="13" name="Oval 12"/>
          <p:cNvSpPr/>
          <p:nvPr/>
        </p:nvSpPr>
        <p:spPr>
          <a:xfrm>
            <a:off x="926592" y="5586984"/>
            <a:ext cx="274320" cy="274320"/>
          </a:xfrm>
          <a:prstGeom prst="ellipse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Garamond"/>
              </a:defRPr>
            </a:pP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383792" y="5568696"/>
            <a:ext cx="37490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2C2C2C"/>
                </a:solidFill>
                <a:latin typeface="Garamond"/>
              </a:defRPr>
            </a:pPr>
            <a:r>
              <a:t>A fit score from 1 to 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1645920"/>
            <a:ext cx="5806440" cy="4480560"/>
          </a:xfrm>
          <a:prstGeom prst="rect">
            <a:avLst/>
          </a:prstGeom>
          <a:solidFill>
            <a:srgbClr val="F8F8F8"/>
          </a:solidFill>
          <a:ln w="12700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EF7B88"/>
                </a:solidFill>
                <a:latin typeface="Garamond"/>
              </a:defRPr>
            </a:pPr>
            <a:r>
              <a:t>✂ SCREENSHOT 6-A</a:t>
            </a:r>
          </a:p>
          <a:p>
            <a:pPr algn="ctr">
              <a:defRPr sz="1000" i="1">
                <a:solidFill>
                  <a:srgbClr val="8A8A8A"/>
                </a:solidFill>
                <a:latin typeface="Garamond"/>
              </a:defRPr>
            </a:pPr>
            <a:r>
              <a:t>Claude running /research</a:t>
            </a:r>
          </a:p>
          <a:p>
            <a:pPr algn="ctr">
              <a:defRPr sz="1000" i="1">
                <a:solidFill>
                  <a:srgbClr val="8A8A8A"/>
                </a:solidFill>
                <a:latin typeface="Garamond"/>
              </a:defRPr>
            </a:pPr>
            <a:r>
              <a:t>the finished investor file next to it</a:t>
            </a:r>
          </a:p>
          <a:p>
            <a:pPr algn="ctr">
              <a:defRPr sz="1000" i="1">
                <a:solidFill>
                  <a:srgbClr val="8A8A8A"/>
                </a:solidFill>
                <a:latin typeface="Garamond"/>
              </a:defRPr>
            </a:pPr>
            <a:r>
              <a:t>anonymise the name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F5D3AFE-FADC-81DE-C8E8-01528F7138AA}"/>
              </a:ext>
            </a:extLst>
          </p:cNvPr>
          <p:cNvSpPr/>
          <p:nvPr/>
        </p:nvSpPr>
        <p:spPr>
          <a:xfrm>
            <a:off x="807720" y="2427478"/>
            <a:ext cx="4206240" cy="685800"/>
          </a:xfrm>
          <a:prstGeom prst="rect">
            <a:avLst/>
          </a:prstGeom>
          <a:solidFill>
            <a:srgbClr val="2C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500" b="0">
                <a:solidFill>
                  <a:srgbClr val="FFFFFF"/>
                </a:solidFill>
                <a:latin typeface="Consolas"/>
              </a:defRPr>
            </a:pPr>
            <a:r>
              <a:rPr dirty="0"/>
              <a:t>/research  </a:t>
            </a:r>
            <a:r>
              <a:rPr lang="en-US" dirty="0"/>
              <a:t>all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84048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EF7B88"/>
                </a:solidFill>
                <a:latin typeface="Garamond"/>
              </a:defRPr>
            </a:pPr>
            <a:r>
              <a:rPr spc="220"/>
              <a:t>SIMPLE PRIORITIES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7899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 i="0">
                <a:solidFill>
                  <a:srgbClr val="2C2C2C"/>
                </a:solidFill>
                <a:latin typeface="Garamond"/>
              </a:defRPr>
            </a:pPr>
            <a:r>
              <a:rPr lang="en-US" dirty="0"/>
              <a:t>Scoring and Categorizing LPs 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841248" y="1298448"/>
            <a:ext cx="822960" cy="31750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0" y="6519672"/>
            <a:ext cx="4206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 i="0">
                <a:solidFill>
                  <a:srgbClr val="8A8A8A"/>
                </a:solidFill>
                <a:latin typeface="Garamond"/>
              </a:defRPr>
            </a:pPr>
            <a:r>
              <a:rPr spc="180"/>
              <a:t>VALORI CAPITAL · LP OUTREACH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4846320" cy="868680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121408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  <a:latin typeface="Garamond"/>
              </a:defRPr>
            </a:pPr>
            <a:r>
              <a:t>75+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19456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Garamond"/>
              </a:defRPr>
            </a:pPr>
            <a:r>
              <a:t>Draft now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971800"/>
            <a:ext cx="4846320" cy="868680"/>
          </a:xfrm>
          <a:prstGeom prst="rect">
            <a:avLst/>
          </a:prstGeom>
          <a:solidFill>
            <a:srgbClr val="F4A5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3172968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  <a:latin typeface="Garamond"/>
              </a:defRPr>
            </a:pPr>
            <a:r>
              <a:t>35 – 74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24612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Garamond"/>
              </a:defRPr>
            </a:pPr>
            <a:r>
              <a:t>Check the gaps, then draft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023360"/>
            <a:ext cx="4846320" cy="86868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4224528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 i="0">
                <a:solidFill>
                  <a:srgbClr val="8A8A8A"/>
                </a:solidFill>
                <a:latin typeface="Garamond"/>
              </a:defRPr>
            </a:pPr>
            <a:r>
              <a:t>below 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29768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8A8A8A"/>
                </a:solidFill>
                <a:latin typeface="Garamond"/>
              </a:defRPr>
            </a:pPr>
            <a:r>
              <a:t>Leave for later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57800"/>
            <a:ext cx="484632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 i="1">
                <a:solidFill>
                  <a:srgbClr val="8A8A8A"/>
                </a:solidFill>
                <a:latin typeface="Garamond"/>
              </a:defRPr>
            </a:pPr>
            <a:r>
              <a:rPr lang="en-US" dirty="0"/>
              <a:t>*criteria need to be adjusted and finalized before use based on </a:t>
            </a:r>
            <a:r>
              <a:rPr lang="en-US" dirty="0" err="1"/>
              <a:t>Valori</a:t>
            </a:r>
            <a:r>
              <a:rPr lang="en-US" dirty="0"/>
              <a:t> requirements</a:t>
            </a:r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6309360" y="1645920"/>
            <a:ext cx="5074920" cy="4480560"/>
          </a:xfrm>
          <a:prstGeom prst="rect">
            <a:avLst/>
          </a:prstGeom>
          <a:solidFill>
            <a:srgbClr val="F8F8F8"/>
          </a:solidFill>
          <a:ln w="12700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EF7B88"/>
                </a:solidFill>
                <a:latin typeface="Garamond"/>
              </a:defRPr>
            </a:pPr>
            <a:r>
              <a:t>✂ SCREENSHOT 7-A</a:t>
            </a:r>
          </a:p>
          <a:p>
            <a:pPr algn="ctr">
              <a:defRPr sz="1000" i="1">
                <a:solidFill>
                  <a:srgbClr val="8A8A8A"/>
                </a:solidFill>
                <a:latin typeface="Garamond"/>
              </a:defRPr>
            </a:pPr>
            <a:r>
              <a:t>one investor file with its</a:t>
            </a:r>
          </a:p>
          <a:p>
            <a:pPr algn="ctr">
              <a:defRPr sz="1000" i="1">
                <a:solidFill>
                  <a:srgbClr val="8A8A8A"/>
                </a:solidFill>
                <a:latin typeface="Garamond"/>
              </a:defRPr>
            </a:pPr>
            <a:r>
              <a:t>score at the top</a:t>
            </a:r>
          </a:p>
          <a:p>
            <a:pPr algn="ctr">
              <a:defRPr sz="1000" i="1">
                <a:solidFill>
                  <a:srgbClr val="8A8A8A"/>
                </a:solidFill>
                <a:latin typeface="Garamond"/>
              </a:defRPr>
            </a:pPr>
            <a:r>
              <a:t>anonymise the name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84048"/>
            <a:ext cx="107899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EF7B88"/>
                </a:solidFill>
                <a:latin typeface="Garamond"/>
              </a:defRPr>
            </a:pPr>
            <a:r>
              <a:rPr spc="220" dirty="0"/>
              <a:t>ONE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7899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 i="0">
                <a:solidFill>
                  <a:srgbClr val="2C2C2C"/>
                </a:solidFill>
                <a:latin typeface="Garamond"/>
              </a:defRPr>
            </a:pPr>
            <a:r>
              <a:rPr dirty="0" err="1"/>
              <a:t>output.xlsx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841248" y="1298448"/>
            <a:ext cx="822960" cy="31750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0" y="6519672"/>
            <a:ext cx="4206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 i="0">
                <a:solidFill>
                  <a:srgbClr val="8A8A8A"/>
                </a:solidFill>
                <a:latin typeface="Garamond"/>
              </a:defRPr>
            </a:pPr>
            <a:r>
              <a:rPr spc="180"/>
              <a:t>VALORI CAPITAL · LP OUTREACH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4114800" cy="38100"/>
          </a:xfrm>
          <a:prstGeom prst="rect">
            <a:avLst/>
          </a:prstGeom>
          <a:solidFill>
            <a:srgbClr val="7E9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2C2C2C"/>
                </a:solidFill>
                <a:latin typeface="Garamond"/>
              </a:defRPr>
            </a:pPr>
            <a:r>
              <a:t>Every investor on one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95728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 i="0">
                <a:solidFill>
                  <a:srgbClr val="8A8A8A"/>
                </a:solidFill>
                <a:latin typeface="Garamond"/>
              </a:defRPr>
            </a:pPr>
            <a:r>
              <a:t>sorted by score, best on top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15468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3154680"/>
            <a:ext cx="4114800" cy="38100"/>
          </a:xfrm>
          <a:prstGeom prst="rect">
            <a:avLst/>
          </a:prstGeom>
          <a:solidFill>
            <a:srgbClr val="7E9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3337560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2C2C2C"/>
                </a:solidFill>
                <a:latin typeface="Garamond"/>
              </a:defRPr>
            </a:pPr>
            <a:r>
              <a:t>Colour shows the stage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21608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 i="0">
                <a:solidFill>
                  <a:srgbClr val="8A8A8A"/>
                </a:solidFill>
                <a:latin typeface="Garamond"/>
              </a:defRPr>
            </a:pPr>
            <a:r>
              <a:t>researched · drafted · sent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48056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4480560"/>
            <a:ext cx="4114800" cy="38100"/>
          </a:xfrm>
          <a:prstGeom prst="rect">
            <a:avLst/>
          </a:prstGeom>
          <a:solidFill>
            <a:srgbClr val="7E9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4663440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2C2C2C"/>
                </a:solidFill>
                <a:latin typeface="Garamond"/>
              </a:defRPr>
            </a:pPr>
            <a:r>
              <a:t>Always up to 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47488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 i="0">
                <a:solidFill>
                  <a:srgbClr val="8A8A8A"/>
                </a:solidFill>
                <a:latin typeface="Garamond"/>
              </a:defRPr>
            </a:pPr>
            <a:r>
              <a:t>refreshes after every step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1645920"/>
            <a:ext cx="5806440" cy="4480560"/>
          </a:xfrm>
          <a:prstGeom prst="rect">
            <a:avLst/>
          </a:prstGeom>
          <a:solidFill>
            <a:srgbClr val="F8F8F8"/>
          </a:solidFill>
          <a:ln w="12700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EF7B88"/>
                </a:solidFill>
                <a:latin typeface="Garamond"/>
              </a:defRPr>
            </a:pPr>
            <a:r>
              <a:t>✂ SCREENSHOT 8-A</a:t>
            </a:r>
          </a:p>
          <a:p>
            <a:pPr algn="ctr">
              <a:defRPr sz="1000" i="1">
                <a:solidFill>
                  <a:srgbClr val="8A8A8A"/>
                </a:solidFill>
                <a:latin typeface="Garamond"/>
              </a:defRPr>
            </a:pPr>
            <a:r>
              <a:t>output.xlsx in Excel</a:t>
            </a:r>
          </a:p>
          <a:p>
            <a:pPr algn="ctr">
              <a:defRPr sz="1000" i="1">
                <a:solidFill>
                  <a:srgbClr val="8A8A8A"/>
                </a:solidFill>
                <a:latin typeface="Garamond"/>
              </a:defRPr>
            </a:pPr>
            <a:r>
              <a:t>colour-coded rows, scores, stages</a:t>
            </a:r>
          </a:p>
          <a:p>
            <a:pPr algn="ctr">
              <a:defRPr sz="1000" i="1">
                <a:solidFill>
                  <a:srgbClr val="8A8A8A"/>
                </a:solidFill>
                <a:latin typeface="Garamond"/>
              </a:defRPr>
            </a:pPr>
            <a:r>
              <a:t>anonymise company names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84048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EF7B88"/>
                </a:solidFill>
                <a:latin typeface="Garamond"/>
              </a:defRPr>
            </a:pPr>
            <a:r>
              <a:rPr spc="220"/>
              <a:t>STEP 3 · ONE COMMAND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7899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 i="0">
                <a:solidFill>
                  <a:srgbClr val="2C2C2C"/>
                </a:solidFill>
                <a:latin typeface="Garamond"/>
              </a:defRPr>
            </a:pPr>
            <a:r>
              <a:rPr lang="en-US" dirty="0"/>
              <a:t>Draft emails per LP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841248" y="1298448"/>
            <a:ext cx="822960" cy="31750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0" y="6519672"/>
            <a:ext cx="4206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 i="0">
                <a:solidFill>
                  <a:srgbClr val="8A8A8A"/>
                </a:solidFill>
                <a:latin typeface="Garamond"/>
              </a:defRPr>
            </a:pPr>
            <a:r>
              <a:rPr spc="180"/>
              <a:t>VALORI CAPITAL · LP OUTREACH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45920"/>
            <a:ext cx="4206240" cy="868680"/>
          </a:xfrm>
          <a:prstGeom prst="rect">
            <a:avLst/>
          </a:prstGeom>
          <a:solidFill>
            <a:srgbClr val="2C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500" b="0">
                <a:solidFill>
                  <a:srgbClr val="FFFFFF"/>
                </a:solidFill>
                <a:latin typeface="Consolas"/>
              </a:defRPr>
            </a:pPr>
            <a:r>
              <a:rPr dirty="0"/>
              <a:t>/draft  &lt;investor name&gt;</a:t>
            </a:r>
          </a:p>
          <a:p>
            <a:pPr algn="ctr">
              <a:defRPr sz="950">
                <a:solidFill>
                  <a:srgbClr val="E8E8E8"/>
                </a:solidFill>
                <a:latin typeface="Consolas"/>
              </a:defRPr>
            </a:pPr>
            <a:r>
              <a:rPr dirty="0"/>
              <a:t>/draft &lt;name&gt; 2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69748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697480"/>
            <a:ext cx="4206240" cy="38100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 i="0">
                <a:solidFill>
                  <a:srgbClr val="2C2C2C"/>
                </a:solidFill>
                <a:latin typeface="Garamond"/>
              </a:defRPr>
            </a:pPr>
            <a:r>
              <a:t>How a draft is built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91840"/>
            <a:ext cx="3703320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0"/>
              </a:spcAft>
              <a:defRPr sz="1100" b="0" i="0">
                <a:solidFill>
                  <a:srgbClr val="2C2C2C"/>
                </a:solidFill>
                <a:latin typeface="Garamond"/>
              </a:defRPr>
            </a:pPr>
            <a:r>
              <a:rPr dirty="0"/>
              <a:t>–  Opens with </a:t>
            </a:r>
            <a:r>
              <a:rPr lang="en-US" dirty="0"/>
              <a:t>building rapport</a:t>
            </a:r>
            <a:endParaRPr dirty="0"/>
          </a:p>
          <a:p>
            <a:pPr algn="l">
              <a:spcAft>
                <a:spcPts val="550"/>
              </a:spcAft>
              <a:defRPr sz="1100" b="0" i="0">
                <a:solidFill>
                  <a:srgbClr val="2C2C2C"/>
                </a:solidFill>
                <a:latin typeface="Garamond"/>
              </a:defRPr>
            </a:pPr>
            <a:r>
              <a:rPr dirty="0"/>
              <a:t>–  </a:t>
            </a:r>
            <a:r>
              <a:rPr lang="en-US" dirty="0"/>
              <a:t>Uses a proven structure from past emails</a:t>
            </a:r>
            <a:endParaRPr dirty="0"/>
          </a:p>
          <a:p>
            <a:pPr algn="l">
              <a:spcAft>
                <a:spcPts val="550"/>
              </a:spcAft>
              <a:defRPr sz="1100" b="0" i="0">
                <a:solidFill>
                  <a:srgbClr val="2C2C2C"/>
                </a:solidFill>
                <a:latin typeface="Garamond"/>
              </a:defRPr>
            </a:pPr>
            <a:r>
              <a:rPr dirty="0"/>
              <a:t>–  One angle per draft — 1, 2 or 3 (A, B, C)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1645920"/>
            <a:ext cx="5806440" cy="2377440"/>
          </a:xfrm>
          <a:prstGeom prst="rect">
            <a:avLst/>
          </a:prstGeom>
          <a:solidFill>
            <a:srgbClr val="F8F8F8"/>
          </a:solidFill>
          <a:ln w="12700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EF7B88"/>
                </a:solidFill>
                <a:latin typeface="Garamond"/>
              </a:defRPr>
            </a:pPr>
            <a:r>
              <a:t>✂ SCREENSHOT 9-A</a:t>
            </a:r>
          </a:p>
          <a:p>
            <a:pPr algn="ctr">
              <a:defRPr sz="1000" i="1">
                <a:solidFill>
                  <a:srgbClr val="8A8A8A"/>
                </a:solidFill>
                <a:latin typeface="Garamond"/>
              </a:defRPr>
            </a:pPr>
            <a:r>
              <a:t>two draft variants side by side</a:t>
            </a:r>
          </a:p>
          <a:p>
            <a:pPr algn="ctr">
              <a:defRPr sz="1000" i="1">
                <a:solidFill>
                  <a:srgbClr val="8A8A8A"/>
                </a:solidFill>
                <a:latin typeface="Garamond"/>
              </a:defRPr>
            </a:pPr>
            <a:r>
              <a:t>anonymise the recipient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4206240"/>
            <a:ext cx="5806440" cy="1920240"/>
          </a:xfrm>
          <a:prstGeom prst="rect">
            <a:avLst/>
          </a:prstGeom>
          <a:solidFill>
            <a:srgbClr val="F8F8F8"/>
          </a:solidFill>
          <a:ln w="12700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EF7B88"/>
                </a:solidFill>
                <a:latin typeface="Garamond"/>
              </a:defRPr>
            </a:pPr>
            <a:r>
              <a:t>✂ SCREENSHOT 9-B</a:t>
            </a:r>
          </a:p>
          <a:p>
            <a:pPr algn="ctr">
              <a:defRPr sz="1000" i="1">
                <a:solidFill>
                  <a:srgbClr val="8A8A8A"/>
                </a:solidFill>
                <a:latin typeface="Garamond"/>
              </a:defRPr>
            </a:pPr>
            <a:r>
              <a:t>one email with the personal opening highlighted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84048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EF7B88"/>
                </a:solidFill>
                <a:latin typeface="Garamond"/>
              </a:defRPr>
            </a:pPr>
            <a:r>
              <a:rPr spc="220"/>
              <a:t>BEFORE YOU SEND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7899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 i="0">
                <a:solidFill>
                  <a:srgbClr val="2C2C2C"/>
                </a:solidFill>
                <a:latin typeface="Garamond"/>
              </a:defRPr>
            </a:pPr>
            <a:r>
              <a:rPr dirty="0"/>
              <a:t>The review packet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298448"/>
            <a:ext cx="822960" cy="31750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0" y="6519672"/>
            <a:ext cx="4206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 i="0">
                <a:solidFill>
                  <a:srgbClr val="8A8A8A"/>
                </a:solidFill>
                <a:latin typeface="Garamond"/>
              </a:defRPr>
            </a:pPr>
            <a:r>
              <a:rPr spc="180"/>
              <a:t>VALORI CAPITAL · LP OUTREACH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45920"/>
            <a:ext cx="4206240" cy="685800"/>
          </a:xfrm>
          <a:prstGeom prst="rect">
            <a:avLst/>
          </a:prstGeom>
          <a:solidFill>
            <a:srgbClr val="2C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500" b="0">
                <a:solidFill>
                  <a:srgbClr val="FFFFFF"/>
                </a:solidFill>
                <a:latin typeface="Consolas"/>
              </a:defRPr>
            </a:pPr>
            <a:r>
              <a:t>/review-packet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74320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743200"/>
            <a:ext cx="4206240" cy="38100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3703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2C2C2C"/>
                </a:solidFill>
                <a:latin typeface="Garamond"/>
              </a:defRPr>
            </a:pPr>
            <a:r>
              <a:t>One file, every pending 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46120"/>
            <a:ext cx="3703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 i="0">
                <a:solidFill>
                  <a:srgbClr val="8A8A8A"/>
                </a:solidFill>
                <a:latin typeface="Garamond"/>
              </a:defRPr>
            </a:pPr>
            <a:r>
              <a:t>nothing to hunt for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88620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3886200"/>
            <a:ext cx="4206240" cy="38100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4023360"/>
            <a:ext cx="3703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2C2C2C"/>
                </a:solidFill>
                <a:latin typeface="Garamond"/>
              </a:defRPr>
            </a:pPr>
            <a:r>
              <a:t>Summary table on top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389120"/>
            <a:ext cx="3703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 i="0">
                <a:solidFill>
                  <a:srgbClr val="8A8A8A"/>
                </a:solidFill>
                <a:latin typeface="Garamond"/>
              </a:defRPr>
            </a:pPr>
            <a:r>
              <a:t>who, angle, length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02920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" y="5029200"/>
            <a:ext cx="4206240" cy="38100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5166360"/>
            <a:ext cx="3703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2C2C2C"/>
                </a:solidFill>
                <a:latin typeface="Garamond"/>
              </a:defRPr>
            </a:pPr>
            <a:r>
              <a:t>Read on screen or print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532120"/>
            <a:ext cx="3703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 i="0">
                <a:solidFill>
                  <a:srgbClr val="8A8A8A"/>
                </a:solidFill>
                <a:latin typeface="Garamond"/>
              </a:defRPr>
            </a:pPr>
            <a:r>
              <a:t>made for a review session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1645920"/>
            <a:ext cx="5806440" cy="4480560"/>
          </a:xfrm>
          <a:prstGeom prst="rect">
            <a:avLst/>
          </a:prstGeom>
          <a:solidFill>
            <a:srgbClr val="F8F8F8"/>
          </a:solidFill>
          <a:ln w="12700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EF7B88"/>
                </a:solidFill>
                <a:latin typeface="Garamond"/>
              </a:defRPr>
            </a:pPr>
            <a:r>
              <a:t>✂ SCREENSHOT 10-A</a:t>
            </a:r>
          </a:p>
          <a:p>
            <a:pPr algn="ctr">
              <a:defRPr sz="1000" i="1">
                <a:solidFill>
                  <a:srgbClr val="8A8A8A"/>
                </a:solidFill>
                <a:latin typeface="Garamond"/>
              </a:defRPr>
            </a:pPr>
            <a:r>
              <a:t>the review packet</a:t>
            </a:r>
          </a:p>
          <a:p>
            <a:pPr algn="ctr">
              <a:defRPr sz="1000" i="1">
                <a:solidFill>
                  <a:srgbClr val="8A8A8A"/>
                </a:solidFill>
                <a:latin typeface="Garamond"/>
              </a:defRPr>
            </a:pPr>
            <a:r>
              <a:t>summary table on top, first email below</a:t>
            </a:r>
          </a:p>
          <a:p>
            <a:pPr algn="ctr">
              <a:defRPr sz="1000" i="1">
                <a:solidFill>
                  <a:srgbClr val="8A8A8A"/>
                </a:solidFill>
                <a:latin typeface="Garamond"/>
              </a:defRPr>
            </a:pPr>
            <a:r>
              <a:t>anonymise names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84048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EF7B88"/>
                </a:solidFill>
                <a:latin typeface="Garamond"/>
              </a:defRPr>
            </a:pPr>
            <a:r>
              <a:rPr spc="220"/>
              <a:t>STEP 4 · YOU DECIDE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 i="0">
                <a:solidFill>
                  <a:srgbClr val="2C2C2C"/>
                </a:solidFill>
                <a:latin typeface="Garamond"/>
              </a:defRPr>
            </a:pPr>
            <a:r>
              <a:t>Read, edit, send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298448"/>
            <a:ext cx="822960" cy="31750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0" y="6519672"/>
            <a:ext cx="4206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 i="0">
                <a:solidFill>
                  <a:srgbClr val="8A8A8A"/>
                </a:solidFill>
                <a:latin typeface="Garamond"/>
              </a:defRPr>
            </a:pPr>
            <a:r>
              <a:rPr spc="180"/>
              <a:t>VALORI CAPITAL · LP OUTREACH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3291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300" b="1">
                <a:solidFill>
                  <a:srgbClr val="2C2C2C"/>
                </a:solidFill>
                <a:latin typeface="Garamond"/>
              </a:defRPr>
            </a:pPr>
            <a:r>
              <a:rPr dirty="0"/>
              <a:t>read and pick</a:t>
            </a:r>
          </a:p>
          <a:p>
            <a:pPr algn="ctr">
              <a:defRPr sz="1000">
                <a:solidFill>
                  <a:srgbClr val="8A8A8A"/>
                </a:solidFill>
                <a:latin typeface="Consolas"/>
              </a:defRPr>
            </a:pPr>
            <a:r>
              <a:rPr dirty="0"/>
              <a:t>edit anything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64008" cy="1005840"/>
          </a:xfrm>
          <a:prstGeom prst="rect">
            <a:avLst/>
          </a:prstGeom>
          <a:solidFill>
            <a:srgbClr val="2E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0" y="2321560"/>
            <a:ext cx="393191" cy="20320"/>
          </a:xfrm>
          <a:prstGeom prst="rect">
            <a:avLst/>
          </a:prstGeom>
          <a:solidFill>
            <a:srgbClr val="2E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Isosceles Triangle 8"/>
          <p:cNvSpPr/>
          <p:nvPr/>
        </p:nvSpPr>
        <p:spPr>
          <a:xfrm rot="5400000">
            <a:off x="4443983" y="2267712"/>
            <a:ext cx="128016" cy="128016"/>
          </a:xfrm>
          <a:prstGeom prst="triangle">
            <a:avLst/>
          </a:prstGeom>
          <a:solidFill>
            <a:srgbClr val="2E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1999" y="1828800"/>
            <a:ext cx="3291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300" b="1">
                <a:solidFill>
                  <a:srgbClr val="2C2C2C"/>
                </a:solidFill>
                <a:latin typeface="Garamond"/>
              </a:defRPr>
            </a:pPr>
            <a:r>
              <a:rPr dirty="0"/>
              <a:t>send it</a:t>
            </a:r>
          </a:p>
          <a:p>
            <a:pPr algn="ctr">
              <a:defRPr sz="1000">
                <a:solidFill>
                  <a:srgbClr val="8A8A8A"/>
                </a:solidFill>
                <a:latin typeface="Consolas"/>
              </a:defRPr>
            </a:pPr>
            <a:r>
              <a:rPr dirty="0"/>
              <a:t>from your own mailbox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1999" y="1828800"/>
            <a:ext cx="64008" cy="1005840"/>
          </a:xfrm>
          <a:prstGeom prst="rect">
            <a:avLst/>
          </a:prstGeom>
          <a:solidFill>
            <a:srgbClr val="2E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63839" y="2321560"/>
            <a:ext cx="393191" cy="20320"/>
          </a:xfrm>
          <a:prstGeom prst="rect">
            <a:avLst/>
          </a:prstGeom>
          <a:solidFill>
            <a:srgbClr val="2E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Isosceles Triangle 12"/>
          <p:cNvSpPr/>
          <p:nvPr/>
        </p:nvSpPr>
        <p:spPr>
          <a:xfrm rot="5400000">
            <a:off x="8193022" y="2267712"/>
            <a:ext cx="128016" cy="128016"/>
          </a:xfrm>
          <a:prstGeom prst="triangle">
            <a:avLst/>
          </a:prstGeom>
          <a:solidFill>
            <a:srgbClr val="2E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21038" y="1828800"/>
            <a:ext cx="3291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300" b="1">
                <a:solidFill>
                  <a:srgbClr val="2C2C2C"/>
                </a:solidFill>
                <a:latin typeface="Garamond"/>
              </a:defRPr>
            </a:pPr>
            <a:r>
              <a:rPr dirty="0"/>
              <a:t>paste back what you sent</a:t>
            </a:r>
          </a:p>
          <a:p>
            <a:pPr algn="ctr">
              <a:defRPr sz="1000">
                <a:solidFill>
                  <a:srgbClr val="8A8A8A"/>
                </a:solidFill>
                <a:latin typeface="Consolas"/>
              </a:defRPr>
            </a:pPr>
            <a:r>
              <a:rPr dirty="0"/>
              <a:t>/log-sent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38" y="1828800"/>
            <a:ext cx="64008" cy="1005840"/>
          </a:xfrm>
          <a:prstGeom prst="rect">
            <a:avLst/>
          </a:prstGeom>
          <a:solidFill>
            <a:srgbClr val="2E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" y="4526280"/>
            <a:ext cx="10515600" cy="1691640"/>
          </a:xfrm>
          <a:prstGeom prst="rect">
            <a:avLst/>
          </a:prstGeom>
          <a:solidFill>
            <a:srgbClr val="F8F8F8"/>
          </a:solidFill>
          <a:ln w="12700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EF7B88"/>
                </a:solidFill>
                <a:latin typeface="Garamond"/>
              </a:defRPr>
            </a:pPr>
            <a:r>
              <a:t>✂ SCREENSHOT 11-A</a:t>
            </a:r>
          </a:p>
          <a:p>
            <a:pPr algn="ctr">
              <a:defRPr sz="1000" i="1">
                <a:solidFill>
                  <a:srgbClr val="8A8A8A"/>
                </a:solidFill>
                <a:latin typeface="Garamond"/>
              </a:defRPr>
            </a:pPr>
            <a:r>
              <a:t>your mail client with the finished email pasted in, deck attached — anonymise the recipient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FFB32B-B173-76C7-3360-5121C072C180}"/>
              </a:ext>
            </a:extLst>
          </p:cNvPr>
          <p:cNvSpPr/>
          <p:nvPr/>
        </p:nvSpPr>
        <p:spPr>
          <a:xfrm>
            <a:off x="790956" y="3175508"/>
            <a:ext cx="10821922" cy="868680"/>
          </a:xfrm>
          <a:prstGeom prst="rect">
            <a:avLst/>
          </a:prstGeom>
          <a:solidFill>
            <a:srgbClr val="2C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500" b="0">
                <a:solidFill>
                  <a:srgbClr val="FFFFFF"/>
                </a:solidFill>
                <a:latin typeface="Consolas"/>
              </a:defRPr>
            </a:pPr>
            <a:r>
              <a:rPr dirty="0"/>
              <a:t>/</a:t>
            </a:r>
            <a:r>
              <a:rPr lang="en-US" dirty="0"/>
              <a:t>log-sent </a:t>
            </a:r>
            <a:r>
              <a:rPr dirty="0"/>
              <a:t>&lt;</a:t>
            </a:r>
            <a:r>
              <a:rPr lang="en-US" dirty="0"/>
              <a:t>email text sent</a:t>
            </a:r>
            <a:r>
              <a:rPr dirty="0"/>
              <a:t>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84048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EF7B88"/>
                </a:solidFill>
                <a:latin typeface="Garamond"/>
              </a:defRPr>
            </a:pPr>
            <a:r>
              <a:rPr spc="220"/>
              <a:t>STEP 5 · IT LEARNS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7899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 i="0">
                <a:solidFill>
                  <a:srgbClr val="2C2C2C"/>
                </a:solidFill>
                <a:latin typeface="Garamond"/>
              </a:defRPr>
            </a:pPr>
            <a:r>
              <a:rPr lang="en-US" dirty="0"/>
              <a:t>Automatic Learning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841248" y="1298448"/>
            <a:ext cx="822960" cy="31750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0" y="6519672"/>
            <a:ext cx="4206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 i="0">
                <a:solidFill>
                  <a:srgbClr val="8A8A8A"/>
                </a:solidFill>
                <a:latin typeface="Garamond"/>
              </a:defRPr>
            </a:pPr>
            <a:r>
              <a:rPr spc="180"/>
              <a:t>VALORI CAPITAL · LP OUTREACH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3291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300" b="1">
                <a:solidFill>
                  <a:srgbClr val="2C2C2C"/>
                </a:solidFill>
                <a:latin typeface="Garamond"/>
              </a:defRPr>
            </a:pPr>
            <a:r>
              <a:t>It compares</a:t>
            </a:r>
          </a:p>
          <a:p>
            <a:pPr algn="ctr">
              <a:defRPr sz="1000">
                <a:solidFill>
                  <a:srgbClr val="8A8A8A"/>
                </a:solidFill>
                <a:latin typeface="Consolas"/>
              </a:defRPr>
            </a:pPr>
            <a:r>
              <a:t>your sent version vs its draft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64008" cy="1005840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0" y="2230120"/>
            <a:ext cx="393191" cy="20320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Isosceles Triangle 8"/>
          <p:cNvSpPr/>
          <p:nvPr/>
        </p:nvSpPr>
        <p:spPr>
          <a:xfrm rot="5400000">
            <a:off x="4443983" y="2176272"/>
            <a:ext cx="128016" cy="128016"/>
          </a:xfrm>
          <a:prstGeom prst="triangle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1999" y="1737360"/>
            <a:ext cx="3291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300" b="1">
                <a:solidFill>
                  <a:srgbClr val="2C2C2C"/>
                </a:solidFill>
                <a:latin typeface="Garamond"/>
              </a:defRPr>
            </a:pPr>
            <a:r>
              <a:rPr lang="en-US" dirty="0"/>
              <a:t>S</a:t>
            </a:r>
            <a:r>
              <a:rPr dirty="0"/>
              <a:t>pots patterns</a:t>
            </a:r>
            <a:r>
              <a:rPr lang="en-US" dirty="0"/>
              <a:t> and Changes</a:t>
            </a:r>
            <a:endParaRPr dirty="0"/>
          </a:p>
          <a:p>
            <a:pPr algn="ctr">
              <a:defRPr sz="1000">
                <a:solidFill>
                  <a:srgbClr val="8A8A8A"/>
                </a:solidFill>
                <a:latin typeface="Consolas"/>
              </a:defRPr>
            </a:pPr>
            <a:r>
              <a:rPr dirty="0"/>
              <a:t>what you always change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1999" y="1737360"/>
            <a:ext cx="64008" cy="1005840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63839" y="2230120"/>
            <a:ext cx="393191" cy="20320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Isosceles Triangle 12"/>
          <p:cNvSpPr/>
          <p:nvPr/>
        </p:nvSpPr>
        <p:spPr>
          <a:xfrm rot="5400000">
            <a:off x="8193022" y="2176272"/>
            <a:ext cx="128016" cy="128016"/>
          </a:xfrm>
          <a:prstGeom prst="triangle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21038" y="1737360"/>
            <a:ext cx="3291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300" b="1">
                <a:solidFill>
                  <a:srgbClr val="2C2C2C"/>
                </a:solidFill>
                <a:latin typeface="Garamond"/>
              </a:defRPr>
            </a:pPr>
            <a:r>
              <a:rPr dirty="0"/>
              <a:t>Next drafts follow your style</a:t>
            </a:r>
          </a:p>
          <a:p>
            <a:pPr algn="ctr">
              <a:defRPr sz="1000">
                <a:solidFill>
                  <a:srgbClr val="8A8A8A"/>
                </a:solidFill>
                <a:latin typeface="Consolas"/>
              </a:defRPr>
            </a:pPr>
            <a:r>
              <a:rPr dirty="0"/>
              <a:t>automatically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38" y="1737360"/>
            <a:ext cx="64008" cy="1005840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3037840"/>
            <a:ext cx="10515600" cy="3134360"/>
          </a:xfrm>
          <a:prstGeom prst="rect">
            <a:avLst/>
          </a:prstGeom>
          <a:solidFill>
            <a:srgbClr val="F8F8F8"/>
          </a:solidFill>
          <a:ln w="12700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EF7B88"/>
                </a:solidFill>
                <a:latin typeface="Garamond"/>
              </a:defRPr>
            </a:pPr>
            <a:r>
              <a:t>✂ SCREENSHOT 12-A</a:t>
            </a:r>
          </a:p>
          <a:p>
            <a:pPr algn="ctr">
              <a:defRPr sz="1000" i="1">
                <a:solidFill>
                  <a:srgbClr val="8A8A8A"/>
                </a:solidFill>
                <a:latin typeface="Garamond"/>
              </a:defRPr>
            </a:pPr>
            <a:r>
              <a:t>a before / after: Claude's draft next to the version you sent, one repeated edit visible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84048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EF7B88"/>
                </a:solidFill>
                <a:latin typeface="Garamond"/>
              </a:defRPr>
            </a:pPr>
            <a:r>
              <a:rPr spc="220"/>
              <a:t>ONCE A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7899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 i="0">
                <a:solidFill>
                  <a:srgbClr val="2C2C2C"/>
                </a:solidFill>
                <a:latin typeface="Garamond"/>
              </a:defRPr>
            </a:pPr>
            <a:r>
              <a:rPr dirty="0"/>
              <a:t>/weekly-review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298448"/>
            <a:ext cx="822960" cy="31750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0" y="6519672"/>
            <a:ext cx="4206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 i="0">
                <a:solidFill>
                  <a:srgbClr val="8A8A8A"/>
                </a:solidFill>
                <a:latin typeface="Garamond"/>
              </a:defRPr>
            </a:pPr>
            <a:r>
              <a:rPr spc="180"/>
              <a:t>VALORI CAPITAL · LP OUTREACH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2514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2514600" cy="38100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993392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2C2C2C"/>
                </a:solidFill>
                <a:latin typeface="Garamond"/>
              </a:defRPr>
            </a:pPr>
            <a:r>
              <a:t>What moved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395728"/>
            <a:ext cx="2148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8A8A8A"/>
                </a:solidFill>
                <a:latin typeface="Garamond"/>
              </a:defRPr>
            </a:pPr>
            <a:r>
              <a:t>sent, replied, waiting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1828800"/>
            <a:ext cx="2514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828800"/>
            <a:ext cx="2514600" cy="38100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21608" y="1993392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2C2C2C"/>
                </a:solidFill>
                <a:latin typeface="Garamond"/>
              </a:defRPr>
            </a:pPr>
            <a:r>
              <a:t>What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2395728"/>
            <a:ext cx="2148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8A8A8A"/>
                </a:solidFill>
                <a:latin typeface="Garamond"/>
              </a:defRPr>
            </a:pPr>
            <a:r>
              <a:t>which opening angle gets replies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200400"/>
            <a:ext cx="2514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3200400"/>
            <a:ext cx="2514600" cy="38100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3364992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2C2C2C"/>
                </a:solidFill>
                <a:latin typeface="Garamond"/>
              </a:defRPr>
            </a:pPr>
            <a:r>
              <a:t>What needs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3767328"/>
            <a:ext cx="2148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8A8A8A"/>
                </a:solidFill>
                <a:latin typeface="Garamond"/>
              </a:defRPr>
            </a:pPr>
            <a:r>
              <a:t>replies awaiting an answer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20440" y="3200400"/>
            <a:ext cx="2514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520440" y="3200400"/>
            <a:ext cx="2514600" cy="38100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21608" y="3364992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2C2C2C"/>
                </a:solidFill>
                <a:latin typeface="Garamond"/>
              </a:defRPr>
            </a:pPr>
            <a:r>
              <a:t>What went stale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21608" y="3767328"/>
            <a:ext cx="2148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8A8A8A"/>
                </a:solidFill>
                <a:latin typeface="Garamond"/>
              </a:defRPr>
            </a:pPr>
            <a:r>
              <a:t>research worth refreshing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645920"/>
            <a:ext cx="4983480" cy="4480560"/>
          </a:xfrm>
          <a:prstGeom prst="rect">
            <a:avLst/>
          </a:prstGeom>
          <a:solidFill>
            <a:srgbClr val="F8F8F8"/>
          </a:solidFill>
          <a:ln w="12700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EF7B88"/>
                </a:solidFill>
                <a:latin typeface="Garamond"/>
              </a:defRPr>
            </a:pPr>
            <a:r>
              <a:t>✂ SCREENSHOT 13-A</a:t>
            </a:r>
          </a:p>
          <a:p>
            <a:pPr algn="ctr">
              <a:defRPr sz="1000" i="1">
                <a:solidFill>
                  <a:srgbClr val="8A8A8A"/>
                </a:solidFill>
                <a:latin typeface="Garamond"/>
              </a:defRPr>
            </a:pPr>
            <a:r>
              <a:t>the weekly review output</a:t>
            </a:r>
          </a:p>
          <a:p>
            <a:pPr algn="ctr">
              <a:defRPr sz="1000" i="1">
                <a:solidFill>
                  <a:srgbClr val="8A8A8A"/>
                </a:solidFill>
                <a:latin typeface="Garamond"/>
              </a:defRPr>
            </a:pPr>
            <a:r>
              <a:t>counts per stage and reply rates visible</a:t>
            </a:r>
          </a:p>
          <a:p>
            <a:pPr algn="ctr">
              <a:defRPr sz="1000" i="1">
                <a:solidFill>
                  <a:srgbClr val="8A8A8A"/>
                </a:solidFill>
                <a:latin typeface="Garamond"/>
              </a:defRPr>
            </a:pPr>
            <a:r>
              <a:t>anonymise names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84048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EF7B88"/>
                </a:solidFill>
                <a:latin typeface="Garamond"/>
              </a:defRPr>
            </a:pPr>
            <a:r>
              <a:rPr spc="220"/>
              <a:t>THE ENTIRE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65353"/>
            <a:ext cx="107899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 i="0">
                <a:solidFill>
                  <a:srgbClr val="2C2C2C"/>
                </a:solidFill>
                <a:latin typeface="Garamond"/>
              </a:defRPr>
            </a:pPr>
            <a:r>
              <a:rPr lang="en-US" dirty="0"/>
              <a:t>Commands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841248" y="1298448"/>
            <a:ext cx="822960" cy="31750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0" y="6519672"/>
            <a:ext cx="4206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 i="0">
                <a:solidFill>
                  <a:srgbClr val="8A8A8A"/>
                </a:solidFill>
                <a:latin typeface="Garamond"/>
              </a:defRPr>
            </a:pPr>
            <a:r>
              <a:rPr spc="180"/>
              <a:t>VALORI CAPITAL · LP OUTREACH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10515600" cy="566928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865376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 i="0">
                <a:solidFill>
                  <a:srgbClr val="2C2C2C"/>
                </a:solidFill>
                <a:latin typeface="Consolas"/>
              </a:defRPr>
            </a:pPr>
            <a:r>
              <a:t>/import-lps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883664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 i="0">
                <a:solidFill>
                  <a:srgbClr val="8A8A8A"/>
                </a:solidFill>
                <a:latin typeface="Garamond"/>
              </a:defRPr>
            </a:pPr>
            <a:r>
              <a:t>pull new prospects in from the sheet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87168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 i="0">
                <a:solidFill>
                  <a:srgbClr val="2C2C2C"/>
                </a:solidFill>
                <a:latin typeface="Consolas"/>
              </a:defRPr>
            </a:pPr>
            <a:r>
              <a:t>/research &lt;name&gt;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505456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 i="0">
                <a:solidFill>
                  <a:srgbClr val="8A8A8A"/>
                </a:solidFill>
                <a:latin typeface="Garamond"/>
              </a:defRPr>
            </a:pPr>
            <a:r>
              <a:t>research and score one investor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980944"/>
            <a:ext cx="10515600" cy="566928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310896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 i="0">
                <a:solidFill>
                  <a:srgbClr val="2C2C2C"/>
                </a:solidFill>
                <a:latin typeface="Consolas"/>
              </a:defRPr>
            </a:pPr>
            <a:r>
              <a:t>/draft &lt;name&gt;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127248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 i="0">
                <a:solidFill>
                  <a:srgbClr val="8A8A8A"/>
                </a:solidFill>
                <a:latin typeface="Garamond"/>
              </a:defRPr>
            </a:pPr>
            <a:r>
              <a:t>write the drafts — 1, 2 or 3 variants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730752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 i="0">
                <a:solidFill>
                  <a:srgbClr val="2C2C2C"/>
                </a:solidFill>
                <a:latin typeface="Consolas"/>
              </a:defRPr>
            </a:pPr>
            <a:r>
              <a:t>/review-packet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74904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 i="0">
                <a:solidFill>
                  <a:srgbClr val="8A8A8A"/>
                </a:solidFill>
                <a:latin typeface="Garamond"/>
              </a:defRPr>
            </a:pPr>
            <a:r>
              <a:t>collect all drafts into one file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224528"/>
            <a:ext cx="10515600" cy="566928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4352544"/>
            <a:ext cx="2834640" cy="3000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 i="0">
                <a:solidFill>
                  <a:srgbClr val="2C2C2C"/>
                </a:solidFill>
                <a:latin typeface="Consolas"/>
              </a:defRPr>
            </a:pPr>
            <a:r>
              <a:rPr dirty="0"/>
              <a:t>/log-sent &lt;</a:t>
            </a:r>
            <a:r>
              <a:rPr lang="en-US" dirty="0"/>
              <a:t>text</a:t>
            </a:r>
            <a:r>
              <a:rPr dirty="0"/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4370832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 i="0">
                <a:solidFill>
                  <a:srgbClr val="8A8A8A"/>
                </a:solidFill>
                <a:latin typeface="Garamond"/>
              </a:defRPr>
            </a:pPr>
            <a:r>
              <a:t>store what you actually sent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974336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 i="0">
                <a:solidFill>
                  <a:srgbClr val="2C2C2C"/>
                </a:solidFill>
                <a:latin typeface="Consolas"/>
              </a:defRPr>
            </a:pPr>
            <a:r>
              <a:t>/calibrate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992624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 i="0">
                <a:solidFill>
                  <a:srgbClr val="8A8A8A"/>
                </a:solidFill>
                <a:latin typeface="Garamond"/>
              </a:defRPr>
            </a:pPr>
            <a:r>
              <a:t>learn from your edits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468112"/>
            <a:ext cx="10515600" cy="566928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5596128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 i="0">
                <a:solidFill>
                  <a:srgbClr val="2C2C2C"/>
                </a:solidFill>
                <a:latin typeface="Consolas"/>
              </a:defRPr>
            </a:pPr>
            <a:r>
              <a:t>/weekly-review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5614416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 i="0">
                <a:solidFill>
                  <a:srgbClr val="8A8A8A"/>
                </a:solidFill>
                <a:latin typeface="Garamond"/>
              </a:defRPr>
            </a:pPr>
            <a:r>
              <a:t>a one-page status of the pipeline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74320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EF7B88"/>
                </a:solidFill>
                <a:latin typeface="Garamond"/>
              </a:defRPr>
            </a:pPr>
            <a:r>
              <a:rPr spc="220"/>
              <a:t>THE 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2C2C2C"/>
                </a:solidFill>
                <a:latin typeface="Garamond"/>
              </a:defRPr>
            </a:pPr>
            <a:r>
              <a:t>The whole system on one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519672"/>
            <a:ext cx="4206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 i="0">
                <a:solidFill>
                  <a:srgbClr val="8A8A8A"/>
                </a:solidFill>
                <a:latin typeface="Garamond"/>
              </a:defRPr>
            </a:pPr>
            <a:r>
              <a:rPr spc="180"/>
              <a:t>VALORI CAPITAL · LP OUTREACH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325880"/>
            <a:ext cx="11356848" cy="1554480"/>
          </a:xfrm>
          <a:prstGeom prst="rect">
            <a:avLst/>
          </a:prstGeom>
          <a:solidFill>
            <a:srgbClr val="E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2971800"/>
            <a:ext cx="11356848" cy="1554480"/>
          </a:xfrm>
          <a:prstGeom prst="rect">
            <a:avLst/>
          </a:prstGeom>
          <a:solidFill>
            <a:srgbClr val="FB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8" y="4617720"/>
            <a:ext cx="11356848" cy="1051560"/>
          </a:xfrm>
          <a:prstGeom prst="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 rot="16200000">
            <a:off x="18288" y="1554480"/>
            <a:ext cx="6858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2E3A50"/>
                </a:solidFill>
                <a:latin typeface="Garamond"/>
              </a:defRPr>
            </a:pPr>
            <a:r>
              <a:rPr spc="160"/>
              <a:t>YOU</a:t>
            </a:r>
          </a:p>
        </p:txBody>
      </p:sp>
      <p:sp>
        <p:nvSpPr>
          <p:cNvPr id="9" name="TextBox 8"/>
          <p:cNvSpPr txBox="1"/>
          <p:nvPr/>
        </p:nvSpPr>
        <p:spPr>
          <a:xfrm rot="16200000">
            <a:off x="-182472" y="3594762"/>
            <a:ext cx="112014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EF7B88"/>
                </a:solidFill>
                <a:latin typeface="Garamond"/>
              </a:defRPr>
            </a:pPr>
            <a:r>
              <a:rPr lang="en-US" spc="160" dirty="0"/>
              <a:t>AUTOMATIC</a:t>
            </a:r>
            <a:endParaRPr spc="160" dirty="0"/>
          </a:p>
        </p:txBody>
      </p:sp>
      <p:sp>
        <p:nvSpPr>
          <p:cNvPr id="10" name="TextBox 9"/>
          <p:cNvSpPr txBox="1"/>
          <p:nvPr/>
        </p:nvSpPr>
        <p:spPr>
          <a:xfrm rot="16200000">
            <a:off x="18288" y="4594860"/>
            <a:ext cx="6858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7E92A9"/>
                </a:solidFill>
                <a:latin typeface="Garamond"/>
              </a:defRPr>
            </a:pPr>
            <a:r>
              <a:rPr spc="160"/>
              <a:t>FILES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1773936"/>
            <a:ext cx="1828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050" b="1">
                <a:solidFill>
                  <a:srgbClr val="2C2C2C"/>
                </a:solidFill>
                <a:latin typeface="Garamond"/>
              </a:defRPr>
            </a:pPr>
            <a:r>
              <a:t>Add prospects</a:t>
            </a:r>
          </a:p>
          <a:p>
            <a:pPr algn="ctr">
              <a:defRPr sz="800">
                <a:solidFill>
                  <a:srgbClr val="8A8A8A"/>
                </a:solidFill>
                <a:latin typeface="Consolas"/>
              </a:defRPr>
            </a:pPr>
            <a:r>
              <a:t>one sheet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1773936"/>
            <a:ext cx="64008" cy="658368"/>
          </a:xfrm>
          <a:prstGeom prst="rect">
            <a:avLst/>
          </a:prstGeom>
          <a:solidFill>
            <a:srgbClr val="2E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1773936"/>
            <a:ext cx="1828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050" b="1">
                <a:solidFill>
                  <a:srgbClr val="2C2C2C"/>
                </a:solidFill>
                <a:latin typeface="Garamond"/>
              </a:defRPr>
            </a:pPr>
            <a:r>
              <a:t>Read + pick</a:t>
            </a:r>
          </a:p>
          <a:p>
            <a:pPr algn="ctr">
              <a:defRPr sz="800">
                <a:solidFill>
                  <a:srgbClr val="8A8A8A"/>
                </a:solidFill>
                <a:latin typeface="Consolas"/>
              </a:defRPr>
            </a:pPr>
            <a:r>
              <a:t>edit anything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773936"/>
            <a:ext cx="64008" cy="658368"/>
          </a:xfrm>
          <a:prstGeom prst="rect">
            <a:avLst/>
          </a:prstGeom>
          <a:solidFill>
            <a:srgbClr val="2E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Diamond 14"/>
          <p:cNvSpPr/>
          <p:nvPr/>
        </p:nvSpPr>
        <p:spPr>
          <a:xfrm>
            <a:off x="8458200" y="1737360"/>
            <a:ext cx="731520" cy="731520"/>
          </a:xfrm>
          <a:prstGeom prst="diamond">
            <a:avLst/>
          </a:prstGeom>
          <a:solidFill>
            <a:srgbClr val="FFFFFF"/>
          </a:solidFill>
          <a:ln w="17780">
            <a:solidFill>
              <a:srgbClr val="2E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850" b="1">
                <a:solidFill>
                  <a:srgbClr val="2E3A50"/>
                </a:solidFill>
                <a:latin typeface="Garamond"/>
              </a:defRPr>
            </a:pPr>
            <a:r>
              <a:t>OK?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0" y="1773936"/>
            <a:ext cx="1828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050" b="1">
                <a:solidFill>
                  <a:srgbClr val="2C2C2C"/>
                </a:solidFill>
                <a:latin typeface="Garamond"/>
              </a:defRPr>
            </a:pPr>
            <a:r>
              <a:t>Send it</a:t>
            </a:r>
          </a:p>
          <a:p>
            <a:pPr algn="ctr">
              <a:defRPr sz="800">
                <a:solidFill>
                  <a:srgbClr val="8A8A8A"/>
                </a:solidFill>
                <a:latin typeface="Consolas"/>
              </a:defRPr>
            </a:pPr>
            <a:r>
              <a:t>your mailbox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1773936"/>
            <a:ext cx="64008" cy="658368"/>
          </a:xfrm>
          <a:prstGeom prst="rect">
            <a:avLst/>
          </a:prstGeom>
          <a:solidFill>
            <a:srgbClr val="2E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2094865"/>
            <a:ext cx="164592" cy="16510"/>
          </a:xfrm>
          <a:prstGeom prst="rect">
            <a:avLst/>
          </a:prstGeom>
          <a:solidFill>
            <a:srgbClr val="2E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Isosceles Triangle 18"/>
          <p:cNvSpPr/>
          <p:nvPr/>
        </p:nvSpPr>
        <p:spPr>
          <a:xfrm rot="5400000">
            <a:off x="8330184" y="2039112"/>
            <a:ext cx="128016" cy="128016"/>
          </a:xfrm>
          <a:prstGeom prst="triangle">
            <a:avLst/>
          </a:prstGeom>
          <a:solidFill>
            <a:srgbClr val="2E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89720" y="2094865"/>
            <a:ext cx="347472" cy="16510"/>
          </a:xfrm>
          <a:prstGeom prst="rect">
            <a:avLst/>
          </a:prstGeom>
          <a:solidFill>
            <a:srgbClr val="2E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Isosceles Triangle 20"/>
          <p:cNvSpPr/>
          <p:nvPr/>
        </p:nvSpPr>
        <p:spPr>
          <a:xfrm rot="5400000">
            <a:off x="9473184" y="2039112"/>
            <a:ext cx="128016" cy="128016"/>
          </a:xfrm>
          <a:prstGeom prst="triangle">
            <a:avLst/>
          </a:prstGeom>
          <a:solidFill>
            <a:srgbClr val="2E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817610" y="1627632"/>
            <a:ext cx="12700" cy="201168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0" y="1621282"/>
            <a:ext cx="1508760" cy="12700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08850" y="1627632"/>
            <a:ext cx="12700" cy="82296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Isosceles Triangle 25"/>
          <p:cNvSpPr/>
          <p:nvPr/>
        </p:nvSpPr>
        <p:spPr>
          <a:xfrm rot="10800000">
            <a:off x="7251192" y="1645920"/>
            <a:ext cx="128016" cy="128016"/>
          </a:xfrm>
          <a:prstGeom prst="triangle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05840" y="3419856"/>
            <a:ext cx="1828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050" b="1">
                <a:solidFill>
                  <a:srgbClr val="2C2C2C"/>
                </a:solidFill>
                <a:latin typeface="Garamond"/>
              </a:defRPr>
            </a:pPr>
            <a:r>
              <a:t>Research + score</a:t>
            </a:r>
          </a:p>
          <a:p>
            <a:pPr algn="ctr">
              <a:defRPr sz="800">
                <a:solidFill>
                  <a:srgbClr val="8A8A8A"/>
                </a:solidFill>
                <a:latin typeface="Consolas"/>
              </a:defRPr>
            </a:pPr>
            <a:r>
              <a:t>/research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3419856"/>
            <a:ext cx="64008" cy="658368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429000" y="3419856"/>
            <a:ext cx="1828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050" b="1">
                <a:solidFill>
                  <a:srgbClr val="2C2C2C"/>
                </a:solidFill>
                <a:latin typeface="Garamond"/>
              </a:defRPr>
            </a:pPr>
            <a:r>
              <a:t>Draft ×1–3</a:t>
            </a:r>
          </a:p>
          <a:p>
            <a:pPr algn="ctr">
              <a:defRPr sz="800">
                <a:solidFill>
                  <a:srgbClr val="8A8A8A"/>
                </a:solidFill>
                <a:latin typeface="Consolas"/>
              </a:defRPr>
            </a:pPr>
            <a:r>
              <a:t>/draft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29000" y="3419856"/>
            <a:ext cx="64008" cy="658368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852160" y="3419856"/>
            <a:ext cx="1828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050" b="1">
                <a:solidFill>
                  <a:srgbClr val="2C2C2C"/>
                </a:solidFill>
                <a:latin typeface="Garamond"/>
              </a:defRPr>
            </a:pPr>
            <a:r>
              <a:t>Collect drafts</a:t>
            </a:r>
          </a:p>
          <a:p>
            <a:pPr algn="ctr">
              <a:defRPr sz="800">
                <a:solidFill>
                  <a:srgbClr val="8A8A8A"/>
                </a:solidFill>
                <a:latin typeface="Consolas"/>
              </a:defRPr>
            </a:pPr>
            <a:r>
              <a:t>/review-packet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3419856"/>
            <a:ext cx="64008" cy="658368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601200" y="3419856"/>
            <a:ext cx="1828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050" b="1">
                <a:solidFill>
                  <a:srgbClr val="2C2C2C"/>
                </a:solidFill>
                <a:latin typeface="Garamond"/>
              </a:defRPr>
            </a:pPr>
            <a:r>
              <a:t>Learn your edits</a:t>
            </a:r>
          </a:p>
          <a:p>
            <a:pPr algn="ctr">
              <a:defRPr sz="800">
                <a:solidFill>
                  <a:srgbClr val="8A8A8A"/>
                </a:solidFill>
                <a:latin typeface="Consolas"/>
              </a:defRPr>
            </a:pPr>
            <a:r>
              <a:t>/calibrate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3419856"/>
            <a:ext cx="64008" cy="658368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834640" y="3740785"/>
            <a:ext cx="530352" cy="16510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Isosceles Triangle 36"/>
          <p:cNvSpPr/>
          <p:nvPr/>
        </p:nvSpPr>
        <p:spPr>
          <a:xfrm rot="5400000">
            <a:off x="3300984" y="3685032"/>
            <a:ext cx="128016" cy="128016"/>
          </a:xfrm>
          <a:prstGeom prst="triangle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257800" y="3740785"/>
            <a:ext cx="530352" cy="16510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Isosceles Triangle 38"/>
          <p:cNvSpPr/>
          <p:nvPr/>
        </p:nvSpPr>
        <p:spPr>
          <a:xfrm rot="5400000">
            <a:off x="5724144" y="3685032"/>
            <a:ext cx="128016" cy="128016"/>
          </a:xfrm>
          <a:prstGeom prst="triangle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911985" y="2432304"/>
            <a:ext cx="16510" cy="923544"/>
          </a:xfrm>
          <a:prstGeom prst="rect">
            <a:avLst/>
          </a:prstGeom>
          <a:solidFill>
            <a:srgbClr val="2E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Isosceles Triangle 40"/>
          <p:cNvSpPr/>
          <p:nvPr/>
        </p:nvSpPr>
        <p:spPr>
          <a:xfrm rot="10800000">
            <a:off x="1856232" y="3291840"/>
            <a:ext cx="128016" cy="128016"/>
          </a:xfrm>
          <a:prstGeom prst="triangle">
            <a:avLst/>
          </a:prstGeom>
          <a:solidFill>
            <a:srgbClr val="2E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758305" y="2496312"/>
            <a:ext cx="16510" cy="923544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Isosceles Triangle 42"/>
          <p:cNvSpPr/>
          <p:nvPr/>
        </p:nvSpPr>
        <p:spPr>
          <a:xfrm>
            <a:off x="6702552" y="2432304"/>
            <a:ext cx="128016" cy="128016"/>
          </a:xfrm>
          <a:prstGeom prst="triangle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0507345" y="2432304"/>
            <a:ext cx="16510" cy="923544"/>
          </a:xfrm>
          <a:prstGeom prst="rect">
            <a:avLst/>
          </a:prstGeom>
          <a:solidFill>
            <a:srgbClr val="2E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Isosceles Triangle 44"/>
          <p:cNvSpPr/>
          <p:nvPr/>
        </p:nvSpPr>
        <p:spPr>
          <a:xfrm rot="10800000">
            <a:off x="10451592" y="3291840"/>
            <a:ext cx="128016" cy="128016"/>
          </a:xfrm>
          <a:prstGeom prst="triangle">
            <a:avLst/>
          </a:prstGeom>
          <a:solidFill>
            <a:srgbClr val="2E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0873740" y="4078224"/>
            <a:ext cx="15240" cy="320040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343400" y="4390644"/>
            <a:ext cx="6537960" cy="15240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335780" y="4142232"/>
            <a:ext cx="15240" cy="256032"/>
          </a:xfrm>
          <a:prstGeom prst="rect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Isosceles Triangle 48"/>
          <p:cNvSpPr/>
          <p:nvPr/>
        </p:nvSpPr>
        <p:spPr>
          <a:xfrm>
            <a:off x="4279392" y="4078224"/>
            <a:ext cx="128016" cy="128016"/>
          </a:xfrm>
          <a:prstGeom prst="triangle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717792" y="4135166"/>
            <a:ext cx="3291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 i="0">
                <a:solidFill>
                  <a:srgbClr val="8A8A8A"/>
                </a:solidFill>
                <a:latin typeface="Garamond"/>
              </a:defRPr>
            </a:pPr>
            <a:r>
              <a:rPr lang="en-US" sz="1200" dirty="0">
                <a:solidFill>
                  <a:srgbClr val="F07B88"/>
                </a:solidFill>
              </a:rPr>
              <a:t>Improved Future Draft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05840" y="4873752"/>
            <a:ext cx="1828800" cy="548640"/>
          </a:xfrm>
          <a:prstGeom prst="rect">
            <a:avLst/>
          </a:prstGeom>
          <a:solidFill>
            <a:srgbClr val="F0F3F7"/>
          </a:solidFill>
          <a:ln w="12700">
            <a:solidFill>
              <a:srgbClr val="B4C0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900" b="0">
                <a:solidFill>
                  <a:srgbClr val="2E3A50"/>
                </a:solidFill>
                <a:latin typeface="Consolas"/>
              </a:defRPr>
            </a:pPr>
            <a:r>
              <a:t>prospect sheet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29000" y="4873752"/>
            <a:ext cx="1828800" cy="548640"/>
          </a:xfrm>
          <a:prstGeom prst="rect">
            <a:avLst/>
          </a:prstGeom>
          <a:solidFill>
            <a:srgbClr val="F0F3F7"/>
          </a:solidFill>
          <a:ln w="12700">
            <a:solidFill>
              <a:srgbClr val="B4C0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900" b="0">
                <a:solidFill>
                  <a:srgbClr val="2E3A50"/>
                </a:solidFill>
                <a:latin typeface="Consolas"/>
              </a:defRPr>
            </a:pPr>
            <a:r>
              <a:t>investor files + scores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52160" y="4873752"/>
            <a:ext cx="1828800" cy="548640"/>
          </a:xfrm>
          <a:prstGeom prst="rect">
            <a:avLst/>
          </a:prstGeom>
          <a:solidFill>
            <a:srgbClr val="F0F3F7"/>
          </a:solidFill>
          <a:ln w="12700">
            <a:solidFill>
              <a:srgbClr val="B4C0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900" b="0">
                <a:solidFill>
                  <a:srgbClr val="2E3A50"/>
                </a:solidFill>
                <a:latin typeface="Consolas"/>
              </a:defRPr>
            </a:pPr>
            <a:r>
              <a:t>drafts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01200" y="4873752"/>
            <a:ext cx="1828800" cy="548640"/>
          </a:xfrm>
          <a:prstGeom prst="rect">
            <a:avLst/>
          </a:prstGeom>
          <a:solidFill>
            <a:srgbClr val="F0F3F7"/>
          </a:solidFill>
          <a:ln w="12700">
            <a:solidFill>
              <a:srgbClr val="B4C0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900" b="0">
                <a:solidFill>
                  <a:srgbClr val="2E3A50"/>
                </a:solidFill>
                <a:latin typeface="Consolas"/>
              </a:defRPr>
            </a:pPr>
            <a:r>
              <a:t>sent archive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EACE44CB-F9DA-12DD-C5E2-3FB2607C9DEB}"/>
              </a:ext>
            </a:extLst>
          </p:cNvPr>
          <p:cNvSpPr/>
          <p:nvPr/>
        </p:nvSpPr>
        <p:spPr>
          <a:xfrm>
            <a:off x="4279392" y="6164764"/>
            <a:ext cx="210312" cy="210312"/>
          </a:xfrm>
          <a:prstGeom prst="ellipse">
            <a:avLst/>
          </a:prstGeom>
          <a:solidFill>
            <a:srgbClr val="2E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EE311D0-BA7B-51A2-729A-6078D93EAFA0}"/>
              </a:ext>
            </a:extLst>
          </p:cNvPr>
          <p:cNvSpPr txBox="1"/>
          <p:nvPr/>
        </p:nvSpPr>
        <p:spPr>
          <a:xfrm>
            <a:off x="4515612" y="6134284"/>
            <a:ext cx="9144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 i="0">
                <a:solidFill>
                  <a:srgbClr val="8A8A8A"/>
                </a:solidFill>
                <a:latin typeface="Garamond"/>
              </a:defRPr>
            </a:pPr>
            <a:r>
              <a:rPr lang="en-US" sz="1200" dirty="0"/>
              <a:t>Manual</a:t>
            </a:r>
            <a:endParaRPr sz="1200" dirty="0"/>
          </a:p>
        </p:txBody>
      </p:sp>
      <p:sp>
        <p:nvSpPr>
          <p:cNvPr id="64" name="Diamond 63">
            <a:extLst>
              <a:ext uri="{FF2B5EF4-FFF2-40B4-BE49-F238E27FC236}">
                <a16:creationId xmlns:a16="http://schemas.microsoft.com/office/drawing/2014/main" id="{1A86AB86-1FF3-B1A1-F6A4-19F240E76C4C}"/>
              </a:ext>
            </a:extLst>
          </p:cNvPr>
          <p:cNvSpPr/>
          <p:nvPr/>
        </p:nvSpPr>
        <p:spPr>
          <a:xfrm>
            <a:off x="5932932" y="6164256"/>
            <a:ext cx="210312" cy="210312"/>
          </a:xfrm>
          <a:prstGeom prst="diamond">
            <a:avLst/>
          </a:prstGeom>
          <a:solidFill>
            <a:srgbClr val="EF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7DEC4E1-AD1F-8F6C-086D-AD0FD372EFB4}"/>
              </a:ext>
            </a:extLst>
          </p:cNvPr>
          <p:cNvSpPr txBox="1"/>
          <p:nvPr/>
        </p:nvSpPr>
        <p:spPr>
          <a:xfrm>
            <a:off x="6161532" y="6134284"/>
            <a:ext cx="1767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 i="0">
                <a:solidFill>
                  <a:srgbClr val="8A8A8A"/>
                </a:solidFill>
                <a:latin typeface="Garamond"/>
              </a:defRPr>
            </a:pPr>
            <a:r>
              <a:rPr lang="en-US" sz="1200" dirty="0"/>
              <a:t>Automatic </a:t>
            </a:r>
            <a:r>
              <a:rPr sz="1200" dirty="0"/>
              <a:t>(</a:t>
            </a:r>
            <a:r>
              <a:rPr lang="en-US" sz="1200" dirty="0"/>
              <a:t>Claude</a:t>
            </a:r>
            <a:r>
              <a:rPr sz="1200" dirty="0"/>
              <a:t>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2915C18-F3BA-A938-3134-0B5995E5EDCD}"/>
              </a:ext>
            </a:extLst>
          </p:cNvPr>
          <p:cNvSpPr txBox="1"/>
          <p:nvPr/>
        </p:nvSpPr>
        <p:spPr>
          <a:xfrm>
            <a:off x="9130157" y="1814818"/>
            <a:ext cx="94208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 i="0">
                <a:solidFill>
                  <a:srgbClr val="8A8A8A"/>
                </a:solidFill>
                <a:latin typeface="Garamond"/>
              </a:defRPr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Yes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80C5737-CCFE-4151-F9F3-955550B04898}"/>
              </a:ext>
            </a:extLst>
          </p:cNvPr>
          <p:cNvSpPr txBox="1"/>
          <p:nvPr/>
        </p:nvSpPr>
        <p:spPr>
          <a:xfrm>
            <a:off x="7914005" y="1369868"/>
            <a:ext cx="94208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 i="0">
                <a:solidFill>
                  <a:srgbClr val="8A8A8A"/>
                </a:solidFill>
                <a:latin typeface="Garamond"/>
              </a:defRPr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7B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2194560" y="2011680"/>
            <a:ext cx="6400800" cy="6400800"/>
          </a:xfrm>
          <a:prstGeom prst="ellipse">
            <a:avLst/>
          </a:prstGeom>
          <a:noFill/>
          <a:ln w="25400">
            <a:solidFill>
              <a:srgbClr val="F4A5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194560" y="2468880"/>
            <a:ext cx="8229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defRPr sz="3400" b="1" i="0">
                <a:solidFill>
                  <a:srgbClr val="FFFFFF"/>
                </a:solidFill>
                <a:latin typeface="Garamond"/>
              </a:defRPr>
            </a:pPr>
            <a:r>
              <a:rPr dirty="0"/>
              <a:t>One loop. You decide every send.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2240280" y="4069080"/>
            <a:ext cx="1097280" cy="31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94560" y="42976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Garamond"/>
              </a:defRPr>
            </a:pPr>
            <a:r>
              <a:t>Valori Capital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1024</Words>
  <Application>Microsoft Macintosh PowerPoint</Application>
  <PresentationFormat>Widescreen</PresentationFormat>
  <Paragraphs>222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Michal Kassa</cp:lastModifiedBy>
  <cp:revision>15</cp:revision>
  <dcterms:created xsi:type="dcterms:W3CDTF">2013-01-27T09:14:16Z</dcterms:created>
  <dcterms:modified xsi:type="dcterms:W3CDTF">2026-07-13T10:02:16Z</dcterms:modified>
  <cp:category/>
</cp:coreProperties>
</file>