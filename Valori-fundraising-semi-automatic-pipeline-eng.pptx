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6" r:id="rId10"/>
    <p:sldId id="269" r:id="rId11"/>
    <p:sldId id="270" r:id="rId12"/>
    <p:sldId id="272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7B8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6426"/>
    <p:restoredTop sz="94678"/>
  </p:normalViewPr>
  <p:slideViewPr>
    <p:cSldViewPr snapToGrid="0" snapToObjects="1">
      <p:cViewPr>
        <p:scale>
          <a:sx n="142" d="100"/>
          <a:sy n="142" d="100"/>
        </p:scale>
        <p:origin x="936" y="3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2263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sentence: AI does the legwork, a person sends.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• Walk the loop once — the rest of the deck is one slide per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only data entry in the whole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command turns the sheet into the working pipeline.</a:t>
            </a:r>
          </a:p>
          <a:p>
            <a:r>
              <a:t>• Single investors can go straight to /research.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You type one line; the dossier appears as a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Scores rank the pipeline; the human picks from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management view: whole pipeline in one spreadsheet.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Personalisation is one true fact — that is what makes it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The one non-negotiable rule, stated plainly.</a:t>
            </a:r>
          </a:p>
          <a:p>
            <a:r>
              <a:t>• Pasting back what you sent feeds the learning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Plain words typed into a chat — no software to learn.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picture: you top, AI middle, files below.</a:t>
            </a:r>
          </a:p>
          <a:p>
            <a:r>
              <a:t>• Point at the feedback arrow — it improves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2FA5D9-6BED-CB2E-0383-E93835CE9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74FE40-320D-711E-1022-9BF1942FB00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4EEDC-DC70-0E4B-F5F4-89DDABEAE23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• One sentence: AI does the legwork, a person sends.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53B303F-A872-6FEB-2686-1F49D64B25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9188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7B8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7863840" y="-1463040"/>
            <a:ext cx="6766560" cy="6766560"/>
          </a:xfrm>
          <a:prstGeom prst="ellipse">
            <a:avLst/>
          </a:prstGeom>
          <a:noFill/>
          <a:ln w="25400">
            <a:solidFill>
              <a:srgbClr val="F4A5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778240" y="-548640"/>
            <a:ext cx="4937760" cy="4937760"/>
          </a:xfrm>
          <a:prstGeom prst="ellipse">
            <a:avLst/>
          </a:prstGeom>
          <a:noFill/>
          <a:ln w="15875">
            <a:solidFill>
              <a:srgbClr val="F4A5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05840" y="17373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Garamond"/>
              </a:defRPr>
            </a:pPr>
            <a:r>
              <a:rPr spc="300" dirty="0"/>
              <a:t>VALORI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0120" y="214884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600" b="1" i="0">
                <a:solidFill>
                  <a:srgbClr val="FFFFFF"/>
                </a:solidFill>
                <a:latin typeface="Garamond"/>
              </a:defRPr>
            </a:pPr>
            <a:r>
              <a:t>Semi-Automatic</a:t>
            </a:r>
          </a:p>
          <a:p>
            <a:pPr algn="l">
              <a:spcAft>
                <a:spcPts val="0"/>
              </a:spcAft>
              <a:defRPr sz="4600" b="1" i="0">
                <a:solidFill>
                  <a:srgbClr val="FFFFFF"/>
                </a:solidFill>
                <a:latin typeface="Garamond"/>
              </a:defRPr>
            </a:pPr>
            <a:r>
              <a:t>Fundraising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1024128" y="4069080"/>
            <a:ext cx="109728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 dirty="0"/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Pipeline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1188720" y="192024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188720" y="1920240"/>
            <a:ext cx="73152" cy="114300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408176" y="20299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 i="0">
                <a:solidFill>
                  <a:srgbClr val="2E3A50"/>
                </a:solidFill>
                <a:latin typeface="Garamond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157984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Add </a:t>
            </a:r>
            <a:r>
              <a:rPr lang="en-US" dirty="0"/>
              <a:t>LPs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901952" y="2560320"/>
            <a:ext cx="1965960" cy="23852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Consolas"/>
              </a:defRPr>
            </a:pPr>
            <a:r>
              <a:rPr dirty="0"/>
              <a:t>spreadsheet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2481580"/>
            <a:ext cx="576072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Isosceles Triangle 11"/>
          <p:cNvSpPr/>
          <p:nvPr/>
        </p:nvSpPr>
        <p:spPr>
          <a:xfrm rot="5400000">
            <a:off x="4535424" y="2427732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663440" y="192024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663440" y="1920240"/>
            <a:ext cx="73152" cy="11430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882896" y="20299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 i="0">
                <a:solidFill>
                  <a:srgbClr val="EF7B88"/>
                </a:solidFill>
                <a:latin typeface="Garamond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76672" y="2157984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Research &amp; </a:t>
            </a:r>
            <a:r>
              <a:rPr lang="en-US" dirty="0"/>
              <a:t>S</a:t>
            </a:r>
            <a:r>
              <a:rPr dirty="0"/>
              <a:t>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76672" y="2560320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Consolas"/>
              </a:defRPr>
            </a:pPr>
            <a:r>
              <a:t>/research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98080" y="2481580"/>
            <a:ext cx="576072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010144" y="2427732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38160" y="192024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138160" y="1920240"/>
            <a:ext cx="73152" cy="11430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57616" y="202996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 i="0">
                <a:solidFill>
                  <a:srgbClr val="EF7B88"/>
                </a:solidFill>
                <a:latin typeface="Garamond"/>
              </a:defRPr>
            </a:pPr>
            <a: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51392" y="2157984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 i="0">
                <a:solidFill>
                  <a:srgbClr val="2C2C2C"/>
                </a:solidFill>
                <a:latin typeface="Garamond"/>
              </a:defRPr>
            </a:pPr>
            <a:r>
              <a:t>Draft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851392" y="2560320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Consolas"/>
              </a:defRPr>
            </a:pPr>
            <a:r>
              <a:t>/draft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55080" y="434340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6355080" y="4343400"/>
            <a:ext cx="73152" cy="114300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74536" y="445312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 i="0">
                <a:solidFill>
                  <a:srgbClr val="2E3A50"/>
                </a:solidFill>
                <a:latin typeface="Garamond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8312" y="4581144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Review &amp; </a:t>
            </a:r>
            <a:r>
              <a:rPr lang="en-US" dirty="0"/>
              <a:t>S</a:t>
            </a:r>
            <a:r>
              <a:rPr dirty="0"/>
              <a:t>end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4983480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Consolas"/>
              </a:defRPr>
            </a:pPr>
            <a:r>
              <a:t>your mailbox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80360" y="4343400"/>
            <a:ext cx="283464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2880360" y="4343400"/>
            <a:ext cx="73152" cy="11430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099816" y="4453128"/>
            <a:ext cx="6400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 i="0">
                <a:solidFill>
                  <a:srgbClr val="EF7B88"/>
                </a:solidFill>
                <a:latin typeface="Garamond"/>
              </a:defRPr>
            </a:pPr>
            <a: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93592" y="4581144"/>
            <a:ext cx="1965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450" b="1" i="0">
                <a:solidFill>
                  <a:srgbClr val="2C2C2C"/>
                </a:solidFill>
                <a:latin typeface="Garamond"/>
              </a:defRPr>
            </a:pPr>
            <a:r>
              <a:t>Learn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93592" y="4983480"/>
            <a:ext cx="1965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779008" y="4904740"/>
            <a:ext cx="576072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Isosceles Triangle 35"/>
          <p:cNvSpPr/>
          <p:nvPr/>
        </p:nvSpPr>
        <p:spPr>
          <a:xfrm rot="16200000">
            <a:off x="5715000" y="4850892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9545320" y="3063240"/>
            <a:ext cx="20320" cy="1787652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Isosceles Triangle 37"/>
          <p:cNvSpPr/>
          <p:nvPr/>
        </p:nvSpPr>
        <p:spPr>
          <a:xfrm rot="10800000">
            <a:off x="9491472" y="4786884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9189720" y="4904740"/>
            <a:ext cx="365760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2606040" y="4904740"/>
            <a:ext cx="274320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595880" y="3127248"/>
            <a:ext cx="20320" cy="1787652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Isosceles Triangle 41"/>
          <p:cNvSpPr/>
          <p:nvPr/>
        </p:nvSpPr>
        <p:spPr>
          <a:xfrm>
            <a:off x="2542032" y="3063240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4189476" y="5969508"/>
            <a:ext cx="210312" cy="210312"/>
          </a:xfrm>
          <a:prstGeom prst="ellips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45" name="TextBox 44"/>
          <p:cNvSpPr txBox="1"/>
          <p:nvPr/>
        </p:nvSpPr>
        <p:spPr>
          <a:xfrm>
            <a:off x="4425696" y="5939028"/>
            <a:ext cx="9144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/>
              <a:t>Manual</a:t>
            </a:r>
            <a:endParaRPr sz="1200" dirty="0"/>
          </a:p>
        </p:txBody>
      </p:sp>
      <p:sp>
        <p:nvSpPr>
          <p:cNvPr id="46" name="Diamond 45"/>
          <p:cNvSpPr/>
          <p:nvPr/>
        </p:nvSpPr>
        <p:spPr>
          <a:xfrm>
            <a:off x="5843016" y="5969000"/>
            <a:ext cx="210312" cy="210312"/>
          </a:xfrm>
          <a:prstGeom prst="diamond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 dirty="0"/>
          </a:p>
        </p:txBody>
      </p:sp>
      <p:sp>
        <p:nvSpPr>
          <p:cNvPr id="47" name="TextBox 46"/>
          <p:cNvSpPr txBox="1"/>
          <p:nvPr/>
        </p:nvSpPr>
        <p:spPr>
          <a:xfrm>
            <a:off x="6071616" y="5939028"/>
            <a:ext cx="176784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/>
              <a:t>Automatic </a:t>
            </a:r>
            <a:r>
              <a:rPr sz="1200" dirty="0"/>
              <a:t>(</a:t>
            </a:r>
            <a:r>
              <a:rPr lang="en-US" sz="1200" dirty="0"/>
              <a:t>Claude</a:t>
            </a:r>
            <a:r>
              <a:rPr sz="1200" dirty="0"/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STEP 1 · ONE SPREADSHEET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Add </a:t>
            </a:r>
            <a:r>
              <a:rPr lang="en-US" dirty="0"/>
              <a:t>LPs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7" name="Rectangle 6"/>
          <p:cNvSpPr/>
          <p:nvPr/>
        </p:nvSpPr>
        <p:spPr>
          <a:xfrm>
            <a:off x="3499104" y="4937484"/>
            <a:ext cx="5193792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499104" y="4937483"/>
            <a:ext cx="5193792" cy="56897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44814" y="5252336"/>
            <a:ext cx="1102372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rPr lang="en-US" dirty="0" err="1"/>
              <a:t>input.xlsx</a:t>
            </a:r>
            <a:endParaRPr dirty="0"/>
          </a:p>
        </p:txBody>
      </p:sp>
      <p:pic>
        <p:nvPicPr>
          <p:cNvPr id="15" name="Picture 14" descr="A screenshot of a computer&#10;&#10;Description automatically generated">
            <a:extLst>
              <a:ext uri="{FF2B5EF4-FFF2-40B4-BE49-F238E27FC236}">
                <a16:creationId xmlns:a16="http://schemas.microsoft.com/office/drawing/2014/main" id="{39A033E0-C8D7-9ACD-E93D-61DB3F1EED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5538" y="1531257"/>
            <a:ext cx="10576240" cy="31616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STEP 1 ·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Pull the </a:t>
            </a:r>
            <a:r>
              <a:rPr lang="en-US" dirty="0"/>
              <a:t>LPs</a:t>
            </a:r>
            <a:r>
              <a:rPr dirty="0"/>
              <a:t>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4206240" cy="6858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/import-lps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2779776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2761488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Reads the sheet, creates one file per investor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3493008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474720"/>
            <a:ext cx="3749039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Skips rows already imported</a:t>
            </a:r>
          </a:p>
        </p:txBody>
      </p:sp>
      <p:sp>
        <p:nvSpPr>
          <p:cNvPr id="11" name="Oval 10"/>
          <p:cNvSpPr/>
          <p:nvPr/>
        </p:nvSpPr>
        <p:spPr>
          <a:xfrm>
            <a:off x="914400" y="4206240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187952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No research yet — that is step 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074920"/>
            <a:ext cx="420624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5074920"/>
            <a:ext cx="4206240" cy="3810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5230368"/>
            <a:ext cx="370332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Alternative</a:t>
            </a:r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5596128"/>
            <a:ext cx="370332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Skip the sheet </a:t>
            </a:r>
            <a:r>
              <a:rPr lang="en-US" dirty="0"/>
              <a:t>and</a:t>
            </a:r>
            <a:r>
              <a:rPr dirty="0"/>
              <a:t> type /research &lt;</a:t>
            </a:r>
            <a:r>
              <a:rPr lang="en-US" dirty="0"/>
              <a:t xml:space="preserve">LP </a:t>
            </a:r>
            <a:r>
              <a:rPr dirty="0"/>
              <a:t>name&gt; </a:t>
            </a:r>
            <a:r>
              <a:rPr lang="en-US" dirty="0"/>
              <a:t>for only one LP</a:t>
            </a:r>
            <a:endParaRPr dirty="0"/>
          </a:p>
        </p:txBody>
      </p:sp>
      <p:pic>
        <p:nvPicPr>
          <p:cNvPr id="19" name="Picture 18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8C94572-DD32-FA04-61FA-031D5632E6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2534" y="716280"/>
            <a:ext cx="6286500" cy="1991652"/>
          </a:xfrm>
          <a:prstGeom prst="rect">
            <a:avLst/>
          </a:prstGeom>
        </p:spPr>
      </p:pic>
      <p:pic>
        <p:nvPicPr>
          <p:cNvPr id="23" name="Picture 22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94605505-E663-52AE-7737-40EA2AB016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534" y="2707933"/>
            <a:ext cx="6286500" cy="1908856"/>
          </a:xfrm>
          <a:prstGeom prst="rect">
            <a:avLst/>
          </a:prstGeom>
        </p:spPr>
      </p:pic>
      <p:pic>
        <p:nvPicPr>
          <p:cNvPr id="25" name="Picture 24" descr="A screen shot of a computer&#10;&#10;Description automatically generated">
            <a:extLst>
              <a:ext uri="{FF2B5EF4-FFF2-40B4-BE49-F238E27FC236}">
                <a16:creationId xmlns:a16="http://schemas.microsoft.com/office/drawing/2014/main" id="{581C3E4D-AB38-9138-00AC-A6C31A248A1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2534" y="4581526"/>
            <a:ext cx="6286500" cy="98670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 dirty="0"/>
              <a:t>STEP 2 ·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Research LPs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4206240" cy="6858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rPr dirty="0"/>
              <a:t>/research &lt;</a:t>
            </a:r>
            <a:r>
              <a:rPr lang="en-US" dirty="0"/>
              <a:t>LP</a:t>
            </a:r>
            <a:r>
              <a:rPr dirty="0"/>
              <a:t> name&gt;</a:t>
            </a:r>
          </a:p>
        </p:txBody>
      </p:sp>
      <p:sp>
        <p:nvSpPr>
          <p:cNvPr id="7" name="Oval 6"/>
          <p:cNvSpPr/>
          <p:nvPr/>
        </p:nvSpPr>
        <p:spPr>
          <a:xfrm>
            <a:off x="926592" y="3447288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endParaRPr dirty="0"/>
          </a:p>
        </p:txBody>
      </p:sp>
      <p:sp>
        <p:nvSpPr>
          <p:cNvPr id="8" name="TextBox 7"/>
          <p:cNvSpPr txBox="1"/>
          <p:nvPr/>
        </p:nvSpPr>
        <p:spPr>
          <a:xfrm>
            <a:off x="1383792" y="3429000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Who they are and what they invest in</a:t>
            </a:r>
          </a:p>
        </p:txBody>
      </p:sp>
      <p:sp>
        <p:nvSpPr>
          <p:cNvPr id="9" name="Oval 8"/>
          <p:cNvSpPr/>
          <p:nvPr/>
        </p:nvSpPr>
        <p:spPr>
          <a:xfrm>
            <a:off x="926592" y="4160520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1383792" y="4142232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The right person to write to</a:t>
            </a:r>
          </a:p>
        </p:txBody>
      </p:sp>
      <p:sp>
        <p:nvSpPr>
          <p:cNvPr id="11" name="Oval 10"/>
          <p:cNvSpPr/>
          <p:nvPr/>
        </p:nvSpPr>
        <p:spPr>
          <a:xfrm>
            <a:off x="926592" y="4873752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1383792" y="4855464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3 personal angles for the email</a:t>
            </a:r>
          </a:p>
        </p:txBody>
      </p:sp>
      <p:sp>
        <p:nvSpPr>
          <p:cNvPr id="13" name="Oval 12"/>
          <p:cNvSpPr/>
          <p:nvPr/>
        </p:nvSpPr>
        <p:spPr>
          <a:xfrm>
            <a:off x="926592" y="5586984"/>
            <a:ext cx="274320" cy="274320"/>
          </a:xfrm>
          <a:prstGeom prst="ellips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100" b="1">
                <a:solidFill>
                  <a:srgbClr val="FFFFFF"/>
                </a:solidFill>
                <a:latin typeface="Garamond"/>
              </a:defRPr>
            </a:pPr>
            <a:endParaRPr dirty="0"/>
          </a:p>
        </p:txBody>
      </p:sp>
      <p:sp>
        <p:nvSpPr>
          <p:cNvPr id="14" name="TextBox 13"/>
          <p:cNvSpPr txBox="1"/>
          <p:nvPr/>
        </p:nvSpPr>
        <p:spPr>
          <a:xfrm>
            <a:off x="1383792" y="5568696"/>
            <a:ext cx="37490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A fit score from 1 to 100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F5D3AFE-FADC-81DE-C8E8-01528F7138AA}"/>
              </a:ext>
            </a:extLst>
          </p:cNvPr>
          <p:cNvSpPr/>
          <p:nvPr/>
        </p:nvSpPr>
        <p:spPr>
          <a:xfrm>
            <a:off x="807720" y="2427478"/>
            <a:ext cx="4206240" cy="68580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rPr dirty="0"/>
              <a:t xml:space="preserve">/research </a:t>
            </a:r>
            <a:r>
              <a:rPr lang="en-US" dirty="0"/>
              <a:t>all</a:t>
            </a:r>
            <a:endParaRPr dirty="0"/>
          </a:p>
        </p:txBody>
      </p:sp>
      <p:pic>
        <p:nvPicPr>
          <p:cNvPr id="18" name="Picture 17" descr="A screenshot of a computer&#10;&#10;Description automatically generated">
            <a:extLst>
              <a:ext uri="{FF2B5EF4-FFF2-40B4-BE49-F238E27FC236}">
                <a16:creationId xmlns:a16="http://schemas.microsoft.com/office/drawing/2014/main" id="{0D5F6E30-0EDF-10B6-0B76-557CD080E6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1988820"/>
            <a:ext cx="6636774" cy="30270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SIMPLE PRIORITIES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Scoring and Categorizing LPs 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1920240"/>
            <a:ext cx="4846320" cy="86868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97280" y="2121408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Garamond"/>
              </a:defRPr>
            </a:pPr>
            <a:r>
              <a:rPr dirty="0"/>
              <a:t>75+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219456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Garamond"/>
              </a:defRPr>
            </a:pPr>
            <a:r>
              <a:t>Draft now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971800"/>
            <a:ext cx="4846320" cy="868680"/>
          </a:xfrm>
          <a:prstGeom prst="rect">
            <a:avLst/>
          </a:prstGeom>
          <a:solidFill>
            <a:srgbClr val="F4A5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97280" y="3172968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FFFFFF"/>
                </a:solidFill>
                <a:latin typeface="Garamond"/>
              </a:defRPr>
            </a:pPr>
            <a:r>
              <a:t>35 – 74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324612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Garamond"/>
              </a:defRPr>
            </a:pPr>
            <a:r>
              <a:t>Check the gaps, then draft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023360"/>
            <a:ext cx="4846320" cy="868680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4224528"/>
            <a:ext cx="1554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900" b="1" i="0">
                <a:solidFill>
                  <a:srgbClr val="8A8A8A"/>
                </a:solidFill>
                <a:latin typeface="Garamond"/>
              </a:defRPr>
            </a:pPr>
            <a:r>
              <a:t>below 35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4297680"/>
            <a:ext cx="2834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8A8A8A"/>
                </a:solidFill>
                <a:latin typeface="Garamond"/>
              </a:defRPr>
            </a:pPr>
            <a:r>
              <a:t>Leave for later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257800"/>
            <a:ext cx="484632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1">
                <a:solidFill>
                  <a:srgbClr val="8A8A8A"/>
                </a:solidFill>
                <a:latin typeface="Garamond"/>
              </a:defRPr>
            </a:pPr>
            <a:r>
              <a:rPr lang="en-US" dirty="0"/>
              <a:t>*criteria need to be adjusted and finalized before use based on </a:t>
            </a:r>
            <a:r>
              <a:rPr lang="en-US" dirty="0" err="1"/>
              <a:t>Valori</a:t>
            </a:r>
            <a:r>
              <a:rPr lang="en-US" dirty="0"/>
              <a:t> requirements</a:t>
            </a:r>
            <a:endParaRPr dirty="0"/>
          </a:p>
        </p:txBody>
      </p:sp>
      <p:pic>
        <p:nvPicPr>
          <p:cNvPr id="21" name="Picture 20" descr="A screenshot of a computer&#10;&#10;Description automatically generated">
            <a:extLst>
              <a:ext uri="{FF2B5EF4-FFF2-40B4-BE49-F238E27FC236}">
                <a16:creationId xmlns:a16="http://schemas.microsoft.com/office/drawing/2014/main" id="{099311DF-776F-2179-B56C-83D98FAC66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8984" y="1920240"/>
            <a:ext cx="5893456" cy="241627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616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 dirty="0"/>
              <a:t>ONE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dirty="0" err="1"/>
              <a:t>output.xlsx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4177926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7" name="Rectangle 6"/>
          <p:cNvSpPr/>
          <p:nvPr/>
        </p:nvSpPr>
        <p:spPr>
          <a:xfrm>
            <a:off x="822960" y="4177926"/>
            <a:ext cx="4114800" cy="38100"/>
          </a:xfrm>
          <a:prstGeom prst="rect">
            <a:avLst/>
          </a:prstGeom>
          <a:solidFill>
            <a:srgbClr val="7E9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97280" y="4360806"/>
            <a:ext cx="361188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Every </a:t>
            </a:r>
            <a:r>
              <a:rPr lang="en-US" dirty="0"/>
              <a:t>LP</a:t>
            </a:r>
            <a:r>
              <a:rPr dirty="0"/>
              <a:t> on one 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44854"/>
            <a:ext cx="3611880" cy="25391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rPr lang="en-US" dirty="0"/>
              <a:t>With score and additional info</a:t>
            </a:r>
            <a:endParaRPr dirty="0"/>
          </a:p>
        </p:txBody>
      </p:sp>
      <p:sp>
        <p:nvSpPr>
          <p:cNvPr id="14" name="Rectangle 13"/>
          <p:cNvSpPr/>
          <p:nvPr/>
        </p:nvSpPr>
        <p:spPr>
          <a:xfrm>
            <a:off x="822960" y="2890146"/>
            <a:ext cx="41148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2890146"/>
            <a:ext cx="4114800" cy="38100"/>
          </a:xfrm>
          <a:prstGeom prst="rect">
            <a:avLst/>
          </a:prstGeom>
          <a:solidFill>
            <a:srgbClr val="7E92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6" name="TextBox 15"/>
          <p:cNvSpPr txBox="1"/>
          <p:nvPr/>
        </p:nvSpPr>
        <p:spPr>
          <a:xfrm>
            <a:off x="1097280" y="3073026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Always up to date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457074"/>
            <a:ext cx="3611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refreshes after every step</a:t>
            </a:r>
          </a:p>
        </p:txBody>
      </p:sp>
      <p:graphicFrame>
        <p:nvGraphicFramePr>
          <p:cNvPr id="31" name="Table 30">
            <a:extLst>
              <a:ext uri="{FF2B5EF4-FFF2-40B4-BE49-F238E27FC236}">
                <a16:creationId xmlns:a16="http://schemas.microsoft.com/office/drawing/2014/main" id="{7C9A89ED-21DD-34BC-7EC5-0751EA3ACF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658151"/>
              </p:ext>
            </p:extLst>
          </p:nvPr>
        </p:nvGraphicFramePr>
        <p:xfrm>
          <a:off x="822960" y="1405033"/>
          <a:ext cx="10271761" cy="121184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3464">
                  <a:extLst>
                    <a:ext uri="{9D8B030D-6E8A-4147-A177-3AD203B41FA5}">
                      <a16:colId xmlns:a16="http://schemas.microsoft.com/office/drawing/2014/main" val="421842373"/>
                    </a:ext>
                  </a:extLst>
                </a:gridCol>
                <a:gridCol w="676499">
                  <a:extLst>
                    <a:ext uri="{9D8B030D-6E8A-4147-A177-3AD203B41FA5}">
                      <a16:colId xmlns:a16="http://schemas.microsoft.com/office/drawing/2014/main" val="485091707"/>
                    </a:ext>
                  </a:extLst>
                </a:gridCol>
                <a:gridCol w="1064805">
                  <a:extLst>
                    <a:ext uri="{9D8B030D-6E8A-4147-A177-3AD203B41FA5}">
                      <a16:colId xmlns:a16="http://schemas.microsoft.com/office/drawing/2014/main" val="1102036612"/>
                    </a:ext>
                  </a:extLst>
                </a:gridCol>
                <a:gridCol w="952196">
                  <a:extLst>
                    <a:ext uri="{9D8B030D-6E8A-4147-A177-3AD203B41FA5}">
                      <a16:colId xmlns:a16="http://schemas.microsoft.com/office/drawing/2014/main" val="721599951"/>
                    </a:ext>
                  </a:extLst>
                </a:gridCol>
                <a:gridCol w="388924">
                  <a:extLst>
                    <a:ext uri="{9D8B030D-6E8A-4147-A177-3AD203B41FA5}">
                      <a16:colId xmlns:a16="http://schemas.microsoft.com/office/drawing/2014/main" val="1490082282"/>
                    </a:ext>
                  </a:extLst>
                </a:gridCol>
                <a:gridCol w="432817">
                  <a:extLst>
                    <a:ext uri="{9D8B030D-6E8A-4147-A177-3AD203B41FA5}">
                      <a16:colId xmlns:a16="http://schemas.microsoft.com/office/drawing/2014/main" val="3632234036"/>
                    </a:ext>
                  </a:extLst>
                </a:gridCol>
                <a:gridCol w="821741">
                  <a:extLst>
                    <a:ext uri="{9D8B030D-6E8A-4147-A177-3AD203B41FA5}">
                      <a16:colId xmlns:a16="http://schemas.microsoft.com/office/drawing/2014/main" val="500715652"/>
                    </a:ext>
                  </a:extLst>
                </a:gridCol>
                <a:gridCol w="732738">
                  <a:extLst>
                    <a:ext uri="{9D8B030D-6E8A-4147-A177-3AD203B41FA5}">
                      <a16:colId xmlns:a16="http://schemas.microsoft.com/office/drawing/2014/main" val="3672048179"/>
                    </a:ext>
                  </a:extLst>
                </a:gridCol>
                <a:gridCol w="1139952">
                  <a:extLst>
                    <a:ext uri="{9D8B030D-6E8A-4147-A177-3AD203B41FA5}">
                      <a16:colId xmlns:a16="http://schemas.microsoft.com/office/drawing/2014/main" val="1704897955"/>
                    </a:ext>
                  </a:extLst>
                </a:gridCol>
                <a:gridCol w="560832">
                  <a:extLst>
                    <a:ext uri="{9D8B030D-6E8A-4147-A177-3AD203B41FA5}">
                      <a16:colId xmlns:a16="http://schemas.microsoft.com/office/drawing/2014/main" val="2314737634"/>
                    </a:ext>
                  </a:extLst>
                </a:gridCol>
                <a:gridCol w="1054608">
                  <a:extLst>
                    <a:ext uri="{9D8B030D-6E8A-4147-A177-3AD203B41FA5}">
                      <a16:colId xmlns:a16="http://schemas.microsoft.com/office/drawing/2014/main" val="791025907"/>
                    </a:ext>
                  </a:extLst>
                </a:gridCol>
                <a:gridCol w="1853185">
                  <a:extLst>
                    <a:ext uri="{9D8B030D-6E8A-4147-A177-3AD203B41FA5}">
                      <a16:colId xmlns:a16="http://schemas.microsoft.com/office/drawing/2014/main" val="1911526715"/>
                    </a:ext>
                  </a:extLst>
                </a:gridCol>
              </a:tblGrid>
              <a:tr h="377844"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Country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Type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Company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Slug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Score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AUM</a:t>
                      </a:r>
                      <a:endParaRPr lang="en-GB" sz="1000" b="1" i="0" u="none" strike="noStrike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Contact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Title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Email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Stage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Category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GB" sz="1000" u="none" strike="noStrike" dirty="0">
                          <a:solidFill>
                            <a:schemeClr val="bg1"/>
                          </a:solidFill>
                          <a:effectLst/>
                          <a:latin typeface="Garamond" panose="02020404030301010803" pitchFamily="18" charset="0"/>
                        </a:rPr>
                        <a:t>Bridge / Key Hook</a:t>
                      </a:r>
                      <a:endParaRPr lang="en-GB" sz="1000" b="1" i="0" u="none" strike="noStrike" dirty="0">
                        <a:solidFill>
                          <a:schemeClr val="bg1"/>
                        </a:solidFill>
                        <a:effectLst/>
                        <a:latin typeface="Garamond" panose="02020404030301010803" pitchFamily="18" charset="0"/>
                      </a:endParaRPr>
                    </a:p>
                  </a:txBody>
                  <a:tcPr marL="72000" marR="72000" marT="7200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7B8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8907243"/>
                  </a:ext>
                </a:extLst>
              </a:tr>
              <a:tr h="483076"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Austria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Pension Fund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VBV-Pensionskasse AG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vbv-pensionskasse-ag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t"/>
                      <a:r>
                        <a:rPr lang="en-SK" sz="1000" b="1" i="0" u="none" strike="noStrike" dirty="0">
                          <a:solidFill>
                            <a:srgbClr val="375623"/>
                          </a:solidFill>
                          <a:effectLst/>
                          <a:latin typeface="Garamond" panose="02020404030301010803" pitchFamily="18" charset="0"/>
                        </a:rPr>
                        <a:t>92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€9.3B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Andreas Zakostelsky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General Director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a.zakostelsky@vbv.at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research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niche European private credit strategies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/>
                      <a:r>
                        <a:rPr lang="en-GB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Garamond" panose="02020404030301010803" pitchFamily="18" charset="0"/>
                        </a:rPr>
                        <a:t>Active private debt allocator since 2016 — 10-20% across 8-10 managers — chair publicly endorses stable 6% return (top1000funds May 2025)</a:t>
                      </a:r>
                    </a:p>
                  </a:txBody>
                  <a:tcPr marL="72000" marR="72000" marT="72000" marB="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9089158"/>
                  </a:ext>
                </a:extLst>
              </a:tr>
            </a:tbl>
          </a:graphicData>
        </a:graphic>
      </p:graphicFrame>
      <p:pic>
        <p:nvPicPr>
          <p:cNvPr id="33" name="Picture 32" descr="A screenshot of a computer&#10;&#10;Description automatically generated">
            <a:extLst>
              <a:ext uri="{FF2B5EF4-FFF2-40B4-BE49-F238E27FC236}">
                <a16:creationId xmlns:a16="http://schemas.microsoft.com/office/drawing/2014/main" id="{614E7CD3-F861-6948-C5F1-DE9EB03B4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423" y="2704687"/>
            <a:ext cx="5638598" cy="3542741"/>
          </a:xfrm>
          <a:prstGeom prst="rect">
            <a:avLst/>
          </a:prstGeom>
          <a:effectLst>
            <a:glow rad="63500">
              <a:schemeClr val="accent2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STEP 3 · ONE COMMAND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Draft emails per LP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4206240" cy="8686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rPr dirty="0"/>
              <a:t>/draft &lt;</a:t>
            </a:r>
            <a:r>
              <a:rPr lang="en-US" dirty="0"/>
              <a:t>LP</a:t>
            </a:r>
            <a:r>
              <a:rPr dirty="0"/>
              <a:t> name&gt;</a:t>
            </a:r>
          </a:p>
          <a:p>
            <a:pPr algn="ctr">
              <a:defRPr sz="950">
                <a:solidFill>
                  <a:srgbClr val="E8E8E8"/>
                </a:solidFill>
                <a:latin typeface="Consolas"/>
              </a:defRPr>
            </a:pPr>
            <a:r>
              <a:rPr dirty="0"/>
              <a:t>/draft &lt;</a:t>
            </a:r>
            <a:r>
              <a:rPr lang="en-US" dirty="0"/>
              <a:t>LP </a:t>
            </a:r>
            <a:r>
              <a:rPr dirty="0"/>
              <a:t>name&gt; 2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97480"/>
            <a:ext cx="420624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697480"/>
            <a:ext cx="4206240" cy="381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2880360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Garamond"/>
              </a:defRPr>
            </a:pPr>
            <a:r>
              <a:t>How a draft is built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291840"/>
            <a:ext cx="3703320" cy="7540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100" b="0" i="0">
                <a:solidFill>
                  <a:srgbClr val="2C2C2C"/>
                </a:solidFill>
                <a:latin typeface="Garamond"/>
              </a:defRPr>
            </a:pPr>
            <a:r>
              <a:rPr dirty="0"/>
              <a:t>–  Opens with </a:t>
            </a:r>
            <a:r>
              <a:rPr lang="en-US" dirty="0"/>
              <a:t>building rapport</a:t>
            </a:r>
            <a:endParaRPr dirty="0"/>
          </a:p>
          <a:p>
            <a:pPr algn="l">
              <a:spcAft>
                <a:spcPts val="550"/>
              </a:spcAft>
              <a:defRPr sz="1100" b="0" i="0">
                <a:solidFill>
                  <a:srgbClr val="2C2C2C"/>
                </a:solidFill>
                <a:latin typeface="Garamond"/>
              </a:defRPr>
            </a:pPr>
            <a:r>
              <a:rPr dirty="0"/>
              <a:t>–  </a:t>
            </a:r>
            <a:r>
              <a:rPr lang="en-US" dirty="0"/>
              <a:t>Uses a proven structure from past emails</a:t>
            </a:r>
            <a:endParaRPr dirty="0"/>
          </a:p>
          <a:p>
            <a:pPr algn="l">
              <a:spcAft>
                <a:spcPts val="550"/>
              </a:spcAft>
              <a:defRPr sz="1100" b="0" i="0">
                <a:solidFill>
                  <a:srgbClr val="2C2C2C"/>
                </a:solidFill>
                <a:latin typeface="Garamond"/>
              </a:defRPr>
            </a:pPr>
            <a:r>
              <a:rPr dirty="0"/>
              <a:t>–  One angle per draft — 1, 2 or 3 (A, B, C)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6AA053-538B-DD08-6E4C-FEDBC713B4E3}"/>
              </a:ext>
            </a:extLst>
          </p:cNvPr>
          <p:cNvSpPr txBox="1"/>
          <p:nvPr/>
        </p:nvSpPr>
        <p:spPr>
          <a:xfrm>
            <a:off x="6355080" y="52120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 dirty="0"/>
              <a:t>BEFORE YOU SEND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5C2724-30EF-021D-2367-00376A821859}"/>
              </a:ext>
            </a:extLst>
          </p:cNvPr>
          <p:cNvSpPr txBox="1"/>
          <p:nvPr/>
        </p:nvSpPr>
        <p:spPr>
          <a:xfrm>
            <a:off x="6355080" y="795528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dirty="0"/>
              <a:t>The review packet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CCF8DF-D013-1639-2EE1-F2B790E168F1}"/>
              </a:ext>
            </a:extLst>
          </p:cNvPr>
          <p:cNvSpPr/>
          <p:nvPr/>
        </p:nvSpPr>
        <p:spPr>
          <a:xfrm>
            <a:off x="6373368" y="143560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0CBA577-223B-3BED-6945-AB38DA09D72A}"/>
              </a:ext>
            </a:extLst>
          </p:cNvPr>
          <p:cNvSpPr/>
          <p:nvPr/>
        </p:nvSpPr>
        <p:spPr>
          <a:xfrm>
            <a:off x="6217920" y="1655081"/>
            <a:ext cx="4206240" cy="850357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309D72D-9CA0-90C1-446B-D1FAAFDACCB7}"/>
              </a:ext>
            </a:extLst>
          </p:cNvPr>
          <p:cNvSpPr/>
          <p:nvPr/>
        </p:nvSpPr>
        <p:spPr>
          <a:xfrm>
            <a:off x="6355080" y="288036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B0A99D5-142A-5280-8794-6D63D57282F6}"/>
              </a:ext>
            </a:extLst>
          </p:cNvPr>
          <p:cNvSpPr/>
          <p:nvPr/>
        </p:nvSpPr>
        <p:spPr>
          <a:xfrm>
            <a:off x="6355080" y="2880360"/>
            <a:ext cx="4206240" cy="381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72F7D4-308F-9BEC-E607-8FE841948C8A}"/>
              </a:ext>
            </a:extLst>
          </p:cNvPr>
          <p:cNvSpPr txBox="1"/>
          <p:nvPr/>
        </p:nvSpPr>
        <p:spPr>
          <a:xfrm>
            <a:off x="6629400" y="301752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One file, every pending email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EBE926C-452B-11D4-3960-A5CF4939F266}"/>
              </a:ext>
            </a:extLst>
          </p:cNvPr>
          <p:cNvSpPr txBox="1"/>
          <p:nvPr/>
        </p:nvSpPr>
        <p:spPr>
          <a:xfrm>
            <a:off x="6629400" y="338328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t>nothing to hunt for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632D487-ABA8-0F25-6A63-065567183999}"/>
              </a:ext>
            </a:extLst>
          </p:cNvPr>
          <p:cNvSpPr/>
          <p:nvPr/>
        </p:nvSpPr>
        <p:spPr>
          <a:xfrm>
            <a:off x="6355080" y="402336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D0FBA7D-7D0A-1488-F8EB-BA1255143516}"/>
              </a:ext>
            </a:extLst>
          </p:cNvPr>
          <p:cNvSpPr txBox="1"/>
          <p:nvPr/>
        </p:nvSpPr>
        <p:spPr>
          <a:xfrm>
            <a:off x="6629400" y="416052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Summary table on top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D4403B1-6267-FCD7-F762-2073FF38E837}"/>
              </a:ext>
            </a:extLst>
          </p:cNvPr>
          <p:cNvSpPr txBox="1"/>
          <p:nvPr/>
        </p:nvSpPr>
        <p:spPr>
          <a:xfrm>
            <a:off x="6629400" y="452628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t>who, angle, length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EB44BEB-EAB3-3DD3-4B6E-81E9343EE5B7}"/>
              </a:ext>
            </a:extLst>
          </p:cNvPr>
          <p:cNvSpPr/>
          <p:nvPr/>
        </p:nvSpPr>
        <p:spPr>
          <a:xfrm>
            <a:off x="6355080" y="5166360"/>
            <a:ext cx="420624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4CA9C5A-2ACE-BFD5-CEC8-82A070C7FEFA}"/>
              </a:ext>
            </a:extLst>
          </p:cNvPr>
          <p:cNvSpPr/>
          <p:nvPr/>
        </p:nvSpPr>
        <p:spPr>
          <a:xfrm>
            <a:off x="6355080" y="5166360"/>
            <a:ext cx="4206240" cy="3810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24138E-6A02-8BDD-40BB-434618F01035}"/>
              </a:ext>
            </a:extLst>
          </p:cNvPr>
          <p:cNvSpPr txBox="1"/>
          <p:nvPr/>
        </p:nvSpPr>
        <p:spPr>
          <a:xfrm>
            <a:off x="6629400" y="530352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1" i="0">
                <a:solidFill>
                  <a:srgbClr val="2C2C2C"/>
                </a:solidFill>
                <a:latin typeface="Garamond"/>
              </a:defRPr>
            </a:pPr>
            <a:r>
              <a:t>Read on screen or print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2909FF6-B340-C3B7-4A7A-C185F9AC642A}"/>
              </a:ext>
            </a:extLst>
          </p:cNvPr>
          <p:cNvSpPr txBox="1"/>
          <p:nvPr/>
        </p:nvSpPr>
        <p:spPr>
          <a:xfrm>
            <a:off x="6629400" y="5669280"/>
            <a:ext cx="3703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050" b="0" i="0">
                <a:solidFill>
                  <a:srgbClr val="8A8A8A"/>
                </a:solidFill>
                <a:latin typeface="Garamond"/>
              </a:defRPr>
            </a:pPr>
            <a:r>
              <a:t>made for a review session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STEP 4 · YOU DECIDE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58368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t>Read, edit, send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2" y="148132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rPr dirty="0"/>
              <a:t>read and pick</a:t>
            </a:r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rPr dirty="0"/>
              <a:t>edit anything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2" y="1481328"/>
            <a:ext cx="64008" cy="100584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114802" y="1974088"/>
            <a:ext cx="393191" cy="2032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sosceles Triangle 8"/>
          <p:cNvSpPr/>
          <p:nvPr/>
        </p:nvSpPr>
        <p:spPr>
          <a:xfrm rot="5400000">
            <a:off x="4443985" y="1920240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572001" y="148132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rPr dirty="0"/>
              <a:t>send it</a:t>
            </a:r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rPr dirty="0"/>
              <a:t>from your own mailbox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1" y="1481328"/>
            <a:ext cx="64008" cy="100584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2" name="Rectangle 11"/>
          <p:cNvSpPr/>
          <p:nvPr/>
        </p:nvSpPr>
        <p:spPr>
          <a:xfrm>
            <a:off x="7863841" y="1974088"/>
            <a:ext cx="393191" cy="2032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Isosceles Triangle 12"/>
          <p:cNvSpPr/>
          <p:nvPr/>
        </p:nvSpPr>
        <p:spPr>
          <a:xfrm rot="5400000">
            <a:off x="8193024" y="1920240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321040" y="148132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rPr dirty="0"/>
              <a:t>paste back what you sent</a:t>
            </a:r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rPr dirty="0"/>
              <a:t>/log-sent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321040" y="1481328"/>
            <a:ext cx="64008" cy="100584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BFFB32B-B173-76C7-3360-5121C072C180}"/>
              </a:ext>
            </a:extLst>
          </p:cNvPr>
          <p:cNvSpPr/>
          <p:nvPr/>
        </p:nvSpPr>
        <p:spPr>
          <a:xfrm>
            <a:off x="841248" y="2638298"/>
            <a:ext cx="10821922" cy="868680"/>
          </a:xfrm>
          <a:prstGeom prst="rect">
            <a:avLst/>
          </a:prstGeom>
          <a:solidFill>
            <a:srgbClr val="2C2C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500" b="0">
                <a:solidFill>
                  <a:srgbClr val="FFFFFF"/>
                </a:solidFill>
                <a:latin typeface="Consolas"/>
              </a:defRPr>
            </a:pPr>
            <a:r>
              <a:rPr dirty="0"/>
              <a:t>/</a:t>
            </a:r>
            <a:r>
              <a:rPr lang="en-US" dirty="0"/>
              <a:t>log-sent </a:t>
            </a:r>
            <a:r>
              <a:rPr dirty="0"/>
              <a:t>&lt;</a:t>
            </a:r>
            <a:r>
              <a:rPr lang="en-US" dirty="0"/>
              <a:t>email text sent</a:t>
            </a:r>
            <a:r>
              <a:rPr dirty="0"/>
              <a:t>&gt;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7CA7912-8096-9610-301A-637CAFAC27F7}"/>
              </a:ext>
            </a:extLst>
          </p:cNvPr>
          <p:cNvSpPr txBox="1"/>
          <p:nvPr/>
        </p:nvSpPr>
        <p:spPr>
          <a:xfrm>
            <a:off x="822960" y="3753866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STEP 5 · IT LEARNS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EEB7F21-41F4-866B-EC3A-C85263F1CF28}"/>
              </a:ext>
            </a:extLst>
          </p:cNvPr>
          <p:cNvSpPr txBox="1"/>
          <p:nvPr/>
        </p:nvSpPr>
        <p:spPr>
          <a:xfrm>
            <a:off x="822960" y="4028186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Automatic Learning</a:t>
            </a:r>
            <a:endParaRPr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1747B608-0B76-DBF6-5C49-E0D267559ED5}"/>
              </a:ext>
            </a:extLst>
          </p:cNvPr>
          <p:cNvSpPr/>
          <p:nvPr/>
        </p:nvSpPr>
        <p:spPr>
          <a:xfrm>
            <a:off x="841248" y="4668266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774132F-C6BF-14D3-1CB7-630D64335D1E}"/>
              </a:ext>
            </a:extLst>
          </p:cNvPr>
          <p:cNvSpPr/>
          <p:nvPr/>
        </p:nvSpPr>
        <p:spPr>
          <a:xfrm>
            <a:off x="822960" y="510717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t>It compares</a:t>
            </a:r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t>your sent version vs its draft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F700F12-EF84-4AAD-F079-2B0767868273}"/>
              </a:ext>
            </a:extLst>
          </p:cNvPr>
          <p:cNvSpPr/>
          <p:nvPr/>
        </p:nvSpPr>
        <p:spPr>
          <a:xfrm>
            <a:off x="822960" y="5107178"/>
            <a:ext cx="64008" cy="100584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DD4544-650D-444F-53F0-A5E6574AFFCC}"/>
              </a:ext>
            </a:extLst>
          </p:cNvPr>
          <p:cNvSpPr/>
          <p:nvPr/>
        </p:nvSpPr>
        <p:spPr>
          <a:xfrm>
            <a:off x="4114800" y="5599938"/>
            <a:ext cx="393191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Isosceles Triangle 8">
            <a:extLst>
              <a:ext uri="{FF2B5EF4-FFF2-40B4-BE49-F238E27FC236}">
                <a16:creationId xmlns:a16="http://schemas.microsoft.com/office/drawing/2014/main" id="{BAF4DCC3-F8F5-5C31-476F-B04B16C409F3}"/>
              </a:ext>
            </a:extLst>
          </p:cNvPr>
          <p:cNvSpPr/>
          <p:nvPr/>
        </p:nvSpPr>
        <p:spPr>
          <a:xfrm rot="5400000">
            <a:off x="4443983" y="5546090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4F17F98-654A-D040-B5F9-03CEB78E27D6}"/>
              </a:ext>
            </a:extLst>
          </p:cNvPr>
          <p:cNvSpPr/>
          <p:nvPr/>
        </p:nvSpPr>
        <p:spPr>
          <a:xfrm>
            <a:off x="4571999" y="510717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S</a:t>
            </a:r>
            <a:r>
              <a:rPr dirty="0"/>
              <a:t>pots patterns</a:t>
            </a:r>
            <a:r>
              <a:rPr lang="en-US" dirty="0"/>
              <a:t xml:space="preserve"> and changes</a:t>
            </a:r>
            <a:endParaRPr dirty="0"/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rPr dirty="0"/>
              <a:t>what you always change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ED625F8C-8EED-DCF1-C91B-0D1CDCC54D12}"/>
              </a:ext>
            </a:extLst>
          </p:cNvPr>
          <p:cNvSpPr/>
          <p:nvPr/>
        </p:nvSpPr>
        <p:spPr>
          <a:xfrm>
            <a:off x="4571999" y="5107178"/>
            <a:ext cx="64008" cy="100584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2A19DF8-A254-6156-8AA4-5F26F2787217}"/>
              </a:ext>
            </a:extLst>
          </p:cNvPr>
          <p:cNvSpPr/>
          <p:nvPr/>
        </p:nvSpPr>
        <p:spPr>
          <a:xfrm>
            <a:off x="7863839" y="5599938"/>
            <a:ext cx="393191" cy="2032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Isosceles Triangle 12">
            <a:extLst>
              <a:ext uri="{FF2B5EF4-FFF2-40B4-BE49-F238E27FC236}">
                <a16:creationId xmlns:a16="http://schemas.microsoft.com/office/drawing/2014/main" id="{A5A9C15A-D117-EFE3-BE1E-D441D8AE177F}"/>
              </a:ext>
            </a:extLst>
          </p:cNvPr>
          <p:cNvSpPr/>
          <p:nvPr/>
        </p:nvSpPr>
        <p:spPr>
          <a:xfrm rot="5400000">
            <a:off x="8193022" y="5546090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2321210C-9AFF-3E88-2536-D66EAF7F7D86}"/>
              </a:ext>
            </a:extLst>
          </p:cNvPr>
          <p:cNvSpPr/>
          <p:nvPr/>
        </p:nvSpPr>
        <p:spPr>
          <a:xfrm>
            <a:off x="8321038" y="5107178"/>
            <a:ext cx="329184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300" b="1">
                <a:solidFill>
                  <a:srgbClr val="2C2C2C"/>
                </a:solidFill>
                <a:latin typeface="Garamond"/>
              </a:defRPr>
            </a:pPr>
            <a:r>
              <a:rPr dirty="0"/>
              <a:t>Next drafts follow your style</a:t>
            </a:r>
          </a:p>
          <a:p>
            <a:pPr algn="ctr">
              <a:defRPr sz="1000">
                <a:solidFill>
                  <a:srgbClr val="8A8A8A"/>
                </a:solidFill>
                <a:latin typeface="Consolas"/>
              </a:defRPr>
            </a:pPr>
            <a:r>
              <a:rPr dirty="0"/>
              <a:t>automatically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FA8EA4C4-5CA7-68F7-E70A-9BE06364A364}"/>
              </a:ext>
            </a:extLst>
          </p:cNvPr>
          <p:cNvSpPr/>
          <p:nvPr/>
        </p:nvSpPr>
        <p:spPr>
          <a:xfrm>
            <a:off x="8321038" y="5107178"/>
            <a:ext cx="64008" cy="100584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384048"/>
            <a:ext cx="107899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THE ENTIRE INTERFACE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65353"/>
            <a:ext cx="10789920" cy="49244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600" b="1" i="0">
                <a:solidFill>
                  <a:srgbClr val="2C2C2C"/>
                </a:solidFill>
                <a:latin typeface="Garamond"/>
              </a:defRPr>
            </a:pPr>
            <a:r>
              <a:rPr lang="en-US" dirty="0"/>
              <a:t>Commands</a:t>
            </a:r>
            <a:endParaRPr dirty="0"/>
          </a:p>
        </p:txBody>
      </p:sp>
      <p:sp>
        <p:nvSpPr>
          <p:cNvPr id="4" name="Rectangle 3"/>
          <p:cNvSpPr/>
          <p:nvPr/>
        </p:nvSpPr>
        <p:spPr>
          <a:xfrm>
            <a:off x="841248" y="1298448"/>
            <a:ext cx="822960" cy="3175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6" name="Rectangle 5"/>
          <p:cNvSpPr/>
          <p:nvPr/>
        </p:nvSpPr>
        <p:spPr>
          <a:xfrm>
            <a:off x="822960" y="1737360"/>
            <a:ext cx="10515600" cy="56692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51560" y="1865376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/import-lps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883664"/>
            <a:ext cx="68580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pull new </a:t>
            </a:r>
            <a:r>
              <a:rPr lang="en-US" dirty="0"/>
              <a:t>LPs</a:t>
            </a:r>
            <a:r>
              <a:rPr dirty="0"/>
              <a:t> in from the sheet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487168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/research &lt;name&gt;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05456"/>
            <a:ext cx="68580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research and score </a:t>
            </a:r>
            <a:r>
              <a:rPr lang="en-US" dirty="0"/>
              <a:t>LP</a:t>
            </a:r>
            <a:endParaRPr dirty="0"/>
          </a:p>
        </p:txBody>
      </p:sp>
      <p:sp>
        <p:nvSpPr>
          <p:cNvPr id="11" name="Rectangle 10"/>
          <p:cNvSpPr/>
          <p:nvPr/>
        </p:nvSpPr>
        <p:spPr>
          <a:xfrm>
            <a:off x="822960" y="2980944"/>
            <a:ext cx="10515600" cy="56692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108960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/draft &lt;name&gt;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3127248"/>
            <a:ext cx="68580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write the drafts</a:t>
            </a:r>
            <a:r>
              <a:rPr lang="en-US" dirty="0"/>
              <a:t>, </a:t>
            </a:r>
            <a:r>
              <a:rPr dirty="0"/>
              <a:t>1, 2 or 3 variants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730752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3749040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t>collect all drafts into one file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4224528"/>
            <a:ext cx="10515600" cy="56692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4352544"/>
            <a:ext cx="2834640" cy="3000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rPr dirty="0"/>
              <a:t>/log-sent &lt;</a:t>
            </a:r>
            <a:r>
              <a:rPr lang="en-US" dirty="0"/>
              <a:t>text</a:t>
            </a:r>
            <a:r>
              <a:rPr dirty="0"/>
              <a:t>&gt;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370832"/>
            <a:ext cx="68580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store what</a:t>
            </a:r>
            <a:r>
              <a:rPr lang="en-US" dirty="0"/>
              <a:t> is</a:t>
            </a:r>
            <a:r>
              <a:rPr dirty="0"/>
              <a:t> 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4974336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4992624"/>
            <a:ext cx="6858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learn from your edits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468112"/>
            <a:ext cx="10515600" cy="566928"/>
          </a:xfrm>
          <a:prstGeom prst="rect">
            <a:avLst/>
          </a:prstGeom>
          <a:solidFill>
            <a:srgbClr val="F8F8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051560" y="5596128"/>
            <a:ext cx="2834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50" b="1" i="0">
                <a:solidFill>
                  <a:srgbClr val="2C2C2C"/>
                </a:solidFill>
                <a:latin typeface="Consolas"/>
              </a:defRPr>
            </a:pPr>
            <a:r>
              <a:t>/weekly-review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5614416"/>
            <a:ext cx="6858000" cy="28469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50" b="0" i="0">
                <a:solidFill>
                  <a:srgbClr val="8A8A8A"/>
                </a:solidFill>
                <a:latin typeface="Garamond"/>
              </a:defRPr>
            </a:pPr>
            <a:r>
              <a:rPr dirty="0"/>
              <a:t>a one-page status of the pipeline</a:t>
            </a:r>
            <a:r>
              <a:rPr lang="en-US" dirty="0"/>
              <a:t> for overview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"/>
            <a:ext cx="7315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100" b="1" i="0">
                <a:solidFill>
                  <a:srgbClr val="EF7B88"/>
                </a:solidFill>
                <a:latin typeface="Garamond"/>
              </a:defRPr>
            </a:pPr>
            <a:r>
              <a:rPr spc="220"/>
              <a:t>THE BIG PICTURE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1" i="0">
                <a:solidFill>
                  <a:srgbClr val="2C2C2C"/>
                </a:solidFill>
                <a:latin typeface="Garamond"/>
              </a:defRPr>
            </a:pPr>
            <a:r>
              <a:t>The whole system on one page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6519672"/>
            <a:ext cx="4206240" cy="2077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defRPr sz="750" b="0" i="0">
                <a:solidFill>
                  <a:srgbClr val="8A8A8A"/>
                </a:solidFill>
                <a:latin typeface="Garamond"/>
              </a:defRPr>
            </a:pPr>
            <a:r>
              <a:rPr spc="180" dirty="0"/>
              <a:t>VALORI CAPITAL · </a:t>
            </a:r>
            <a:r>
              <a:rPr lang="en-US" spc="180" dirty="0"/>
              <a:t>FUNDRAISING</a:t>
            </a:r>
            <a:endParaRPr spc="180" dirty="0"/>
          </a:p>
        </p:txBody>
      </p:sp>
      <p:sp>
        <p:nvSpPr>
          <p:cNvPr id="5" name="Rectangle 4"/>
          <p:cNvSpPr/>
          <p:nvPr/>
        </p:nvSpPr>
        <p:spPr>
          <a:xfrm>
            <a:off x="749808" y="1325880"/>
            <a:ext cx="11356848" cy="1554480"/>
          </a:xfrm>
          <a:prstGeom prst="rect">
            <a:avLst/>
          </a:prstGeom>
          <a:solidFill>
            <a:srgbClr val="E9EC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49808" y="2971800"/>
            <a:ext cx="11356848" cy="1554480"/>
          </a:xfrm>
          <a:prstGeom prst="rect">
            <a:avLst/>
          </a:prstGeom>
          <a:solidFill>
            <a:srgbClr val="FBE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749808" y="4617720"/>
            <a:ext cx="11356848" cy="1051560"/>
          </a:xfrm>
          <a:prstGeom prst="rect">
            <a:avLst/>
          </a:prstGeom>
          <a:solidFill>
            <a:srgbClr val="F0F3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 rot="16200000">
            <a:off x="18288" y="1554480"/>
            <a:ext cx="685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 i="0">
                <a:solidFill>
                  <a:srgbClr val="2E3A50"/>
                </a:solidFill>
                <a:latin typeface="Garamond"/>
              </a:defRPr>
            </a:pPr>
            <a:r>
              <a:rPr spc="160"/>
              <a:t>YOU</a:t>
            </a:r>
          </a:p>
        </p:txBody>
      </p:sp>
      <p:sp>
        <p:nvSpPr>
          <p:cNvPr id="9" name="TextBox 8"/>
          <p:cNvSpPr txBox="1"/>
          <p:nvPr/>
        </p:nvSpPr>
        <p:spPr>
          <a:xfrm rot="16200000">
            <a:off x="-182472" y="3594762"/>
            <a:ext cx="1120140" cy="2308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 i="0">
                <a:solidFill>
                  <a:srgbClr val="EF7B88"/>
                </a:solidFill>
                <a:latin typeface="Garamond"/>
              </a:defRPr>
            </a:pPr>
            <a:r>
              <a:rPr lang="en-US" spc="160" dirty="0"/>
              <a:t>AUTOMATIC</a:t>
            </a:r>
            <a:endParaRPr spc="160" dirty="0"/>
          </a:p>
        </p:txBody>
      </p:sp>
      <p:sp>
        <p:nvSpPr>
          <p:cNvPr id="10" name="TextBox 9"/>
          <p:cNvSpPr txBox="1"/>
          <p:nvPr/>
        </p:nvSpPr>
        <p:spPr>
          <a:xfrm rot="16200000">
            <a:off x="18288" y="4594860"/>
            <a:ext cx="68580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defRPr sz="900" b="1" i="0">
                <a:solidFill>
                  <a:srgbClr val="7E92A9"/>
                </a:solidFill>
                <a:latin typeface="Garamond"/>
              </a:defRPr>
            </a:pPr>
            <a:r>
              <a:rPr spc="160"/>
              <a:t>FILES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177393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rPr dirty="0"/>
              <a:t>Add </a:t>
            </a:r>
            <a:r>
              <a:rPr lang="en-US" dirty="0"/>
              <a:t>LPs</a:t>
            </a:r>
            <a:endParaRPr dirty="0"/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rPr dirty="0"/>
              <a:t>one sheet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05840" y="1773936"/>
            <a:ext cx="64008" cy="658368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77393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Read + pick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edit anything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1773936"/>
            <a:ext cx="64008" cy="658368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Diamond 14"/>
          <p:cNvSpPr/>
          <p:nvPr/>
        </p:nvSpPr>
        <p:spPr>
          <a:xfrm>
            <a:off x="8458200" y="1737360"/>
            <a:ext cx="731520" cy="731520"/>
          </a:xfrm>
          <a:prstGeom prst="diamond">
            <a:avLst/>
          </a:prstGeom>
          <a:solidFill>
            <a:srgbClr val="FFFFFF"/>
          </a:solidFill>
          <a:ln w="17780">
            <a:solidFill>
              <a:srgbClr val="2E3A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850" b="1">
                <a:solidFill>
                  <a:srgbClr val="2E3A50"/>
                </a:solidFill>
                <a:latin typeface="Garamond"/>
              </a:defRPr>
            </a:pPr>
            <a:r>
              <a:t>OK?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601200" y="177393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Send it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your mailbox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773936"/>
            <a:ext cx="64008" cy="658368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2094865"/>
            <a:ext cx="164592" cy="1651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Isosceles Triangle 18"/>
          <p:cNvSpPr/>
          <p:nvPr/>
        </p:nvSpPr>
        <p:spPr>
          <a:xfrm rot="5400000">
            <a:off x="8330184" y="2039112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189720" y="2094865"/>
            <a:ext cx="347472" cy="16510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Isosceles Triangle 20"/>
          <p:cNvSpPr/>
          <p:nvPr/>
        </p:nvSpPr>
        <p:spPr>
          <a:xfrm rot="5400000">
            <a:off x="9473184" y="2039112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8817610" y="1627632"/>
            <a:ext cx="12700" cy="201168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315200" y="1621282"/>
            <a:ext cx="1508760" cy="12700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7308850" y="1627632"/>
            <a:ext cx="12700" cy="82296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Isosceles Triangle 25"/>
          <p:cNvSpPr/>
          <p:nvPr/>
        </p:nvSpPr>
        <p:spPr>
          <a:xfrm rot="10800000">
            <a:off x="7251192" y="1645920"/>
            <a:ext cx="128016" cy="128016"/>
          </a:xfrm>
          <a:prstGeom prst="triangle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005840" y="341985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Research + score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/research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5840" y="3419856"/>
            <a:ext cx="64008" cy="658368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429000" y="341985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Draft ×1–3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/draft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429000" y="3419856"/>
            <a:ext cx="64008" cy="658368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52160" y="341985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Collect drafts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/review-packet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52160" y="3419856"/>
            <a:ext cx="64008" cy="658368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9601200" y="3419856"/>
            <a:ext cx="182880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8E8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1050" b="1">
                <a:solidFill>
                  <a:srgbClr val="2C2C2C"/>
                </a:solidFill>
                <a:latin typeface="Garamond"/>
              </a:defRPr>
            </a:pPr>
            <a:r>
              <a:t>Learn your edits</a:t>
            </a:r>
          </a:p>
          <a:p>
            <a:pPr algn="ctr">
              <a:defRPr sz="800">
                <a:solidFill>
                  <a:srgbClr val="8A8A8A"/>
                </a:solidFill>
                <a:latin typeface="Consolas"/>
              </a:defRPr>
            </a:pPr>
            <a:r>
              <a:t>/calibrate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419856"/>
            <a:ext cx="64008" cy="658368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2834640" y="3740785"/>
            <a:ext cx="530352" cy="1651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Isosceles Triangle 36"/>
          <p:cNvSpPr/>
          <p:nvPr/>
        </p:nvSpPr>
        <p:spPr>
          <a:xfrm rot="5400000">
            <a:off x="3300984" y="3685032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257800" y="3740785"/>
            <a:ext cx="530352" cy="1651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Isosceles Triangle 38"/>
          <p:cNvSpPr/>
          <p:nvPr/>
        </p:nvSpPr>
        <p:spPr>
          <a:xfrm rot="5400000">
            <a:off x="5724144" y="3685032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1911985" y="2432304"/>
            <a:ext cx="16510" cy="923544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Isosceles Triangle 40"/>
          <p:cNvSpPr/>
          <p:nvPr/>
        </p:nvSpPr>
        <p:spPr>
          <a:xfrm rot="10800000">
            <a:off x="1856232" y="3291840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6758305" y="2496312"/>
            <a:ext cx="16510" cy="923544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Isosceles Triangle 42"/>
          <p:cNvSpPr/>
          <p:nvPr/>
        </p:nvSpPr>
        <p:spPr>
          <a:xfrm>
            <a:off x="6702552" y="2432304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0507345" y="2432304"/>
            <a:ext cx="16510" cy="923544"/>
          </a:xfrm>
          <a:prstGeom prst="rect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Isosceles Triangle 44"/>
          <p:cNvSpPr/>
          <p:nvPr/>
        </p:nvSpPr>
        <p:spPr>
          <a:xfrm rot="10800000">
            <a:off x="10451592" y="3291840"/>
            <a:ext cx="128016" cy="128016"/>
          </a:xfrm>
          <a:prstGeom prst="triangl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10873740" y="4078224"/>
            <a:ext cx="15240" cy="32004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4343400" y="4390644"/>
            <a:ext cx="6537960" cy="15240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35780" y="4142232"/>
            <a:ext cx="15240" cy="256032"/>
          </a:xfrm>
          <a:prstGeom prst="rect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Isosceles Triangle 48"/>
          <p:cNvSpPr/>
          <p:nvPr/>
        </p:nvSpPr>
        <p:spPr>
          <a:xfrm>
            <a:off x="4279392" y="4078224"/>
            <a:ext cx="128016" cy="128016"/>
          </a:xfrm>
          <a:prstGeom prst="triangle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717792" y="4135166"/>
            <a:ext cx="329184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>
                <a:solidFill>
                  <a:srgbClr val="F07B88"/>
                </a:solidFill>
              </a:rPr>
              <a:t>Improved Future Draft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05840" y="4873752"/>
            <a:ext cx="1828800" cy="548640"/>
          </a:xfrm>
          <a:prstGeom prst="rect">
            <a:avLst/>
          </a:prstGeom>
          <a:solidFill>
            <a:srgbClr val="F0F3F7"/>
          </a:solidFill>
          <a:ln w="12700">
            <a:solidFill>
              <a:srgbClr val="B4C0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900" b="0">
                <a:solidFill>
                  <a:srgbClr val="2E3A50"/>
                </a:solidFill>
                <a:latin typeface="Consolas"/>
              </a:defRPr>
            </a:pPr>
            <a:r>
              <a:rPr lang="en-US" dirty="0"/>
              <a:t>LP</a:t>
            </a:r>
            <a:r>
              <a:rPr dirty="0"/>
              <a:t> sheet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429000" y="4873752"/>
            <a:ext cx="1828800" cy="548640"/>
          </a:xfrm>
          <a:prstGeom prst="rect">
            <a:avLst/>
          </a:prstGeom>
          <a:solidFill>
            <a:srgbClr val="F0F3F7"/>
          </a:solidFill>
          <a:ln w="12700">
            <a:solidFill>
              <a:srgbClr val="B4C0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900" b="0">
                <a:solidFill>
                  <a:srgbClr val="2E3A50"/>
                </a:solidFill>
                <a:latin typeface="Consolas"/>
              </a:defRPr>
            </a:pPr>
            <a:r>
              <a:rPr lang="en-US" dirty="0"/>
              <a:t>LP</a:t>
            </a:r>
            <a:r>
              <a:rPr dirty="0"/>
              <a:t> </a:t>
            </a:r>
            <a:r>
              <a:rPr lang="en-US" dirty="0"/>
              <a:t>research </a:t>
            </a:r>
            <a:r>
              <a:rPr dirty="0"/>
              <a:t>files + scores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52160" y="4873752"/>
            <a:ext cx="1828800" cy="548640"/>
          </a:xfrm>
          <a:prstGeom prst="rect">
            <a:avLst/>
          </a:prstGeom>
          <a:solidFill>
            <a:srgbClr val="F0F3F7"/>
          </a:solidFill>
          <a:ln w="12700">
            <a:solidFill>
              <a:srgbClr val="B4C0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900" b="0">
                <a:solidFill>
                  <a:srgbClr val="2E3A50"/>
                </a:solidFill>
                <a:latin typeface="Consolas"/>
              </a:defRPr>
            </a:pPr>
            <a:r>
              <a:t>drafts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01200" y="4873752"/>
            <a:ext cx="1828800" cy="548640"/>
          </a:xfrm>
          <a:prstGeom prst="rect">
            <a:avLst/>
          </a:prstGeom>
          <a:solidFill>
            <a:srgbClr val="F0F3F7"/>
          </a:solidFill>
          <a:ln w="12700">
            <a:solidFill>
              <a:srgbClr val="B4C0C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0800" tIns="25400" rIns="50800" bIns="25400" rtlCol="0" anchor="ctr"/>
          <a:lstStyle/>
          <a:p>
            <a:pPr algn="ctr">
              <a:defRPr sz="900" b="0">
                <a:solidFill>
                  <a:srgbClr val="2E3A50"/>
                </a:solidFill>
                <a:latin typeface="Consolas"/>
              </a:defRPr>
            </a:pPr>
            <a:r>
              <a:t>sent archive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EACE44CB-F9DA-12DD-C5E2-3FB2607C9DEB}"/>
              </a:ext>
            </a:extLst>
          </p:cNvPr>
          <p:cNvSpPr/>
          <p:nvPr/>
        </p:nvSpPr>
        <p:spPr>
          <a:xfrm>
            <a:off x="4279392" y="6164764"/>
            <a:ext cx="210312" cy="210312"/>
          </a:xfrm>
          <a:prstGeom prst="ellipse">
            <a:avLst/>
          </a:prstGeom>
          <a:solidFill>
            <a:srgbClr val="2E3A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EE311D0-BA7B-51A2-729A-6078D93EAFA0}"/>
              </a:ext>
            </a:extLst>
          </p:cNvPr>
          <p:cNvSpPr txBox="1"/>
          <p:nvPr/>
        </p:nvSpPr>
        <p:spPr>
          <a:xfrm>
            <a:off x="4515612" y="6134284"/>
            <a:ext cx="91440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/>
              <a:t>Manual</a:t>
            </a:r>
            <a:endParaRPr sz="1200" dirty="0"/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1A86AB86-1FF3-B1A1-F6A4-19F240E76C4C}"/>
              </a:ext>
            </a:extLst>
          </p:cNvPr>
          <p:cNvSpPr/>
          <p:nvPr/>
        </p:nvSpPr>
        <p:spPr>
          <a:xfrm>
            <a:off x="5932932" y="6164256"/>
            <a:ext cx="210312" cy="210312"/>
          </a:xfrm>
          <a:prstGeom prst="diamond">
            <a:avLst/>
          </a:prstGeom>
          <a:solidFill>
            <a:srgbClr val="EF7B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12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7DEC4E1-AD1F-8F6C-086D-AD0FD372EFB4}"/>
              </a:ext>
            </a:extLst>
          </p:cNvPr>
          <p:cNvSpPr txBox="1"/>
          <p:nvPr/>
        </p:nvSpPr>
        <p:spPr>
          <a:xfrm>
            <a:off x="6161532" y="6134284"/>
            <a:ext cx="1767840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/>
              <a:t>Automatic </a:t>
            </a:r>
            <a:r>
              <a:rPr sz="1200" dirty="0"/>
              <a:t>(</a:t>
            </a:r>
            <a:r>
              <a:rPr lang="en-US" sz="1200" dirty="0"/>
              <a:t>Claude</a:t>
            </a:r>
            <a:r>
              <a:rPr sz="1200" dirty="0"/>
              <a:t>)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2915C18-F3BA-A938-3134-0B5995E5EDCD}"/>
              </a:ext>
            </a:extLst>
          </p:cNvPr>
          <p:cNvSpPr txBox="1"/>
          <p:nvPr/>
        </p:nvSpPr>
        <p:spPr>
          <a:xfrm>
            <a:off x="9130157" y="1814818"/>
            <a:ext cx="942086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Yes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80C5737-CCFE-4151-F9F3-955550B04898}"/>
              </a:ext>
            </a:extLst>
          </p:cNvPr>
          <p:cNvSpPr txBox="1"/>
          <p:nvPr/>
        </p:nvSpPr>
        <p:spPr>
          <a:xfrm>
            <a:off x="7914005" y="1369868"/>
            <a:ext cx="942086" cy="276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950" b="0" i="0">
                <a:solidFill>
                  <a:srgbClr val="8A8A8A"/>
                </a:solidFill>
                <a:latin typeface="Garamond"/>
              </a:defRPr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No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7B8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5E80A7-ED5F-09A5-24B2-39B3ABC1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B45C1B2C-2DA4-9CA5-9002-39196227ED28}"/>
              </a:ext>
            </a:extLst>
          </p:cNvPr>
          <p:cNvSpPr/>
          <p:nvPr/>
        </p:nvSpPr>
        <p:spPr>
          <a:xfrm>
            <a:off x="7863840" y="-1463040"/>
            <a:ext cx="6766560" cy="6766560"/>
          </a:xfrm>
          <a:prstGeom prst="ellipse">
            <a:avLst/>
          </a:prstGeom>
          <a:noFill/>
          <a:ln w="25400">
            <a:solidFill>
              <a:srgbClr val="F4A5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D5635412-BCB9-EC5F-A846-7A13A5304D5E}"/>
              </a:ext>
            </a:extLst>
          </p:cNvPr>
          <p:cNvSpPr/>
          <p:nvPr/>
        </p:nvSpPr>
        <p:spPr>
          <a:xfrm>
            <a:off x="8778240" y="-548640"/>
            <a:ext cx="4937760" cy="4937760"/>
          </a:xfrm>
          <a:prstGeom prst="ellipse">
            <a:avLst/>
          </a:prstGeom>
          <a:noFill/>
          <a:ln w="15875">
            <a:solidFill>
              <a:srgbClr val="F4A5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F0AFF7-4975-1479-F126-5DD5F805A4DF}"/>
              </a:ext>
            </a:extLst>
          </p:cNvPr>
          <p:cNvSpPr txBox="1"/>
          <p:nvPr/>
        </p:nvSpPr>
        <p:spPr>
          <a:xfrm>
            <a:off x="1005840" y="173736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300" b="1" i="0">
                <a:solidFill>
                  <a:srgbClr val="FFFFFF"/>
                </a:solidFill>
                <a:latin typeface="Garamond"/>
              </a:defRPr>
            </a:pPr>
            <a:r>
              <a:rPr spc="300" dirty="0"/>
              <a:t>VALORI CAPITAL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8E543E5-C223-4F65-96B3-F593BF6C0884}"/>
              </a:ext>
            </a:extLst>
          </p:cNvPr>
          <p:cNvSpPr txBox="1"/>
          <p:nvPr/>
        </p:nvSpPr>
        <p:spPr>
          <a:xfrm>
            <a:off x="960120" y="2148840"/>
            <a:ext cx="9601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  <a:defRPr sz="4600" b="1" i="0">
                <a:solidFill>
                  <a:srgbClr val="FFFFFF"/>
                </a:solidFill>
                <a:latin typeface="Garamond"/>
              </a:defRPr>
            </a:pPr>
            <a:r>
              <a:t>Semi-Automatic</a:t>
            </a:r>
          </a:p>
          <a:p>
            <a:pPr algn="l">
              <a:spcAft>
                <a:spcPts val="0"/>
              </a:spcAft>
              <a:defRPr sz="4600" b="1" i="0">
                <a:solidFill>
                  <a:srgbClr val="FFFFFF"/>
                </a:solidFill>
                <a:latin typeface="Garamond"/>
              </a:defRPr>
            </a:pPr>
            <a:r>
              <a:t>Fundraising Pipeline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95E161D-48DE-C713-1017-3645B088EFE8}"/>
              </a:ext>
            </a:extLst>
          </p:cNvPr>
          <p:cNvSpPr/>
          <p:nvPr/>
        </p:nvSpPr>
        <p:spPr>
          <a:xfrm>
            <a:off x="1024128" y="4069080"/>
            <a:ext cx="1097280" cy="317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1867959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529</TotalTime>
  <Words>797</Words>
  <Application>Microsoft Macintosh PowerPoint</Application>
  <PresentationFormat>Widescreen</PresentationFormat>
  <Paragraphs>191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Garamond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Michal Kassa</cp:lastModifiedBy>
  <cp:revision>40</cp:revision>
  <dcterms:created xsi:type="dcterms:W3CDTF">2013-01-27T09:14:16Z</dcterms:created>
  <dcterms:modified xsi:type="dcterms:W3CDTF">2026-07-13T22:36:44Z</dcterms:modified>
  <cp:category/>
</cp:coreProperties>
</file>